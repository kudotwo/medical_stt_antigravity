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F0F0FF"/>
                </a:solidFill>
              </a:defRPr>
            </a:pPr>
            <a:r>
              <a:t>Average Metric Scores (0–100%)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 3.1 Flash Lite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95.6</c:v>
                </c:pt>
                <c:pt idx="1">
                  <c:v>96.0</c:v>
                </c:pt>
                <c:pt idx="2">
                  <c:v>92.0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3.5 Flash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95.6</c:v>
                </c:pt>
                <c:pt idx="1">
                  <c:v>95.0</c:v>
                </c:pt>
                <c:pt idx="2">
                  <c:v>93.0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GPT-5.6 Terra</c:v>
                </c:pt>
              </c:strCache>
            </c:strRef>
          </c:tx>
          <c:spPr>
            <a:solidFill>
              <a:srgbClr val="AA5CF7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96.8</c:v>
                </c:pt>
                <c:pt idx="1">
                  <c:v>96.0</c:v>
                </c:pt>
                <c:pt idx="2">
                  <c:v>92.4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0F0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303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888A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0F0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F0F0FF"/>
                </a:solidFill>
              </a:defRPr>
            </a:pPr>
            <a:r>
              <a:t>Metric Scores — CAR0001  (0–100%)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 3.1 Flash Lite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3.5 Flash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GPT-5.6 Terra</c:v>
                </c:pt>
              </c:strCache>
            </c:strRef>
          </c:tx>
          <c:spPr>
            <a:solidFill>
              <a:srgbClr val="AA5CF7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0F0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303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888A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0F0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F0F0FF"/>
                </a:solidFill>
              </a:defRPr>
            </a:pPr>
            <a:r>
              <a:t>Metric Scores — MSK0005  (0–100%)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 3.1 Flash Lite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3.5 Flash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</c:v>
                </c:pt>
                <c:pt idx="1">
                  <c:v>95</c:v>
                </c:pt>
                <c:pt idx="2">
                  <c:v>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GPT-5.6 Terra</c:v>
                </c:pt>
              </c:strCache>
            </c:strRef>
          </c:tx>
          <c:spPr>
            <a:solidFill>
              <a:srgbClr val="AA5CF7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98</c:v>
                </c:pt>
                <c:pt idx="1">
                  <c:v>100</c:v>
                </c:pt>
                <c:pt idx="2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0F0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303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888A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0F0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F0F0FF"/>
                </a:solidFill>
              </a:defRPr>
            </a:pPr>
            <a:r>
              <a:t>Metric Scores — RES0050  (0–100%)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 3.1 Flash Lite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100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3.5 Flash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GPT-5.6 Terra</c:v>
                </c:pt>
              </c:strCache>
            </c:strRef>
          </c:tx>
          <c:spPr>
            <a:solidFill>
              <a:srgbClr val="AA5CF7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98</c:v>
                </c:pt>
                <c:pt idx="1">
                  <c:v>95</c:v>
                </c:pt>
                <c:pt idx="2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0F0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303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888A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0F0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F0F0FF"/>
                </a:solidFill>
              </a:defRPr>
            </a:pPr>
            <a:r>
              <a:t>Metric Scores — GAS0003  (0–100%)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 3.1 Flash Lite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3.5 Flash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GPT-5.6 Terra</c:v>
                </c:pt>
              </c:strCache>
            </c:strRef>
          </c:tx>
          <c:spPr>
            <a:solidFill>
              <a:srgbClr val="AA5CF7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0F0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303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888A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0F0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F0F0FF"/>
                </a:solidFill>
              </a:defRPr>
            </a:pPr>
            <a:r>
              <a:t>Metric Scores — DER0001  (0–100%)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Gemini 3.1 Flash Lite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3.5 Flash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GPT-5.6 Terra</c:v>
                </c:pt>
              </c:strCache>
            </c:strRef>
          </c:tx>
          <c:spPr>
            <a:solidFill>
              <a:srgbClr val="AA5CF7"/>
            </a:solidFill>
          </c:spPr>
          <c:cat>
            <c:strRef>
              <c:f>Sheet1!$A$2:$A$4</c:f>
              <c:strCache>
                <c:ptCount val="3"/>
                <c:pt idx="0">
                  <c:v>Clinical Fidelity</c:v>
                </c:pt>
                <c:pt idx="1">
                  <c:v>Logical Consistency</c:v>
                </c:pt>
                <c:pt idx="2">
                  <c:v>SOAP Structural Fidelity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98</c:v>
                </c:pt>
                <c:pt idx="1">
                  <c:v>95</c:v>
                </c:pt>
                <c:pt idx="2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0F0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3030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888A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0F0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D4FF"/>
                </a:solidFill>
                <a:latin typeface="Calibri"/>
              </a:defRPr>
            </a:pPr>
            <a:r>
              <a:t>Medical STT — SOAP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0F0FF"/>
                </a:solidFill>
                <a:latin typeface="Calibri"/>
              </a:defRPr>
            </a:pPr>
            <a:r>
              <a:t>3-Model Performance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Calibri"/>
              </a:defRPr>
            </a:pPr>
            <a:r>
              <a:t>Gemini 3.1 Flash Lite  ·  Gemini 3.5 Flash  ·  GPT-5.6 Terra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Calibri"/>
              </a:defRPr>
            </a:pPr>
            <a:r>
              <a:t>5 Clinical Conversations  |  3 Metrics  |  Judge: gemini-3.5-flash-lite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596"/>
                </a:solidFill>
                <a:latin typeface="Calibri"/>
              </a:defRPr>
            </a:pPr>
            <a:r>
              <a:t>Metrics: Clinical Fidelity · Logical Consistency · SOAP Structural Fidelity  (0–100%)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91695" cy="109728"/>
          </a:xfrm>
          <a:prstGeom prst="rect">
            <a:avLst/>
          </a:prstGeom>
          <a:solidFill>
            <a:srgbClr val="AA5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E596"/>
                </a:solidFill>
                <a:latin typeface="Calibri"/>
              </a:defRPr>
            </a:pPr>
            <a:r>
              <a:t>Overall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Average scores across all 5 clinical conversations  (0–100%)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332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Calibri"/>
              </a:defRPr>
            </a:pPr>
            <a:r>
              <a:t>Full Results — All 15 Evaluations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5 cases × 3 models  |  Metric scores 0–100%  |  Judge: gemini-3.5-flash-lite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737360"/>
                <a:gridCol w="1828800"/>
                <a:gridCol w="2103120"/>
                <a:gridCol w="1280160"/>
              </a:tblGrid>
              <a:tr h="3371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Clinical</a:t>
                      </a:r>
                    </a:p>
                    <a:p>
                      <a:pPr algn="ctr">
                        <a:defRPr sz="10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Fidelity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Logical</a:t>
                      </a:r>
                    </a:p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Consistency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SOAP Structural</a:t>
                      </a:r>
                    </a:p>
                    <a:p>
                      <a:pPr algn="ctr">
                        <a:defRPr sz="1000" b="1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Fidelity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CAR0001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3.1 Flash Lite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93.3%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CAR0001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3.5 Flash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94.0%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CAR0001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GPT-5.6 Terra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93.3%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DER0001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3.1 Flash Lite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93.3%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DER0001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3.5 Flash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95.0%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DER0001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GPT-5.6 Terra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95.0%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GAS0003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3.1 Flash Lite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93.3%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GAS0003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3.5 Flash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93.3%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GAS0003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GPT-5.6 Terra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93.3%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MSK0005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3.1 Flash Lite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95.0%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MSK0005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3.5 Flash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96%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96.3%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MSK0005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GPT-5.6 Terra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97.7%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RES0050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3.1 Flash Lite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97.7%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RES0050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3.5 Flash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94.0%</a:t>
                      </a:r>
                    </a:p>
                  </a:txBody>
                  <a:tcPr anchor="ctr" marL="54864" marR="54864" marT="27432" marB="27432">
                    <a:solidFill>
                      <a:srgbClr val="18183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RES0050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GPT-5.6 Terra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96.0%</a:t>
                      </a:r>
                    </a:p>
                  </a:txBody>
                  <a:tcPr anchor="ctr" marL="54864" marR="54864" marT="27432" marB="27432">
                    <a:solidFill>
                      <a:srgbClr val="2020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Calibri"/>
              </a:defRPr>
            </a:pPr>
            <a:r>
              <a:t>Case: Cardiology — Chest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Conversation CAR0001  |  Performance metrics 0–100%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332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Calibri"/>
              </a:defRPr>
            </a:pPr>
            <a:r>
              <a:t>Case: Musculoskeletal — Elbow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Conversation MSK0005  |  Performance metrics 0–100%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332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Calibri"/>
              </a:defRPr>
            </a:pPr>
            <a:r>
              <a:t>Case: Respiratory — Chronic Cough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Conversation RES0050  |  Performance metrics 0–100%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332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Calibri"/>
              </a:defRPr>
            </a:pPr>
            <a:r>
              <a:t>Case: Gastroenterology — Abdominal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Conversation GAS0003  |  Performance metrics 0–100%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332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  <a:latin typeface="Calibri"/>
              </a:defRPr>
            </a:pPr>
            <a:r>
              <a:t>Case: Dermatology — Skin Rash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Conversation DER0001  |  Performance metrics 0–100%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332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E596"/>
                </a:solidFill>
                <a:latin typeface="Calibri"/>
              </a:defRPr>
            </a:pPr>
            <a:r>
              <a:t>Model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Average scores across all 5 cases  (0–100%)  |  Paper-aligned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554480"/>
          <a:ext cx="9418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737360"/>
                <a:gridCol w="1737360"/>
                <a:gridCol w="192024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Clinical</a:t>
                      </a:r>
                    </a:p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Fidelity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Logical</a:t>
                      </a:r>
                    </a:p>
                    <a:p>
                      <a:pPr algn="ctr">
                        <a:defRPr sz="1200" b="1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Consistency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SOAP Structural</a:t>
                      </a:r>
                    </a:p>
                    <a:p>
                      <a:pPr algn="ctr">
                        <a:defRPr sz="1200" b="1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Fidelity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Overall</a:t>
                      </a:r>
                    </a:p>
                    <a:p>
                      <a:pPr algn="ctr">
                        <a:defRPr sz="12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 anchor="ctr">
                    <a:solidFill>
                      <a:srgbClr val="2020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GPT-5.6 Terra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96.8%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96.0%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92.4%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95.1%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3.1 Flash Lite</a:t>
                      </a:r>
                    </a:p>
                  </a:txBody>
                  <a:tcPr anchor="ctr" marL="73152" marR="73152" marT="54864" marB="54864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95.6%</a:t>
                      </a:r>
                    </a:p>
                  </a:txBody>
                  <a:tcPr anchor="ctr" marL="73152" marR="73152" marT="54864" marB="54864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96.0%</a:t>
                      </a:r>
                    </a:p>
                  </a:txBody>
                  <a:tcPr anchor="ctr" marL="73152" marR="73152" marT="54864" marB="54864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92.0%</a:t>
                      </a:r>
                    </a:p>
                  </a:txBody>
                  <a:tcPr anchor="ctr" marL="73152" marR="73152" marT="54864" marB="54864">
                    <a:solidFill>
                      <a:srgbClr val="202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94.5%</a:t>
                      </a:r>
                    </a:p>
                  </a:txBody>
                  <a:tcPr anchor="ctr" marL="73152" marR="73152" marT="54864" marB="54864">
                    <a:solidFill>
                      <a:srgbClr val="20203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F0FF"/>
                          </a:solidFill>
                          <a:latin typeface="Calibri"/>
                        </a:defRPr>
                      </a:pPr>
                      <a:r>
                        <a:t>Gemini 3.5 Flash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95.6%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6B35"/>
                          </a:solidFill>
                          <a:latin typeface="Calibri"/>
                        </a:defRPr>
                      </a:pPr>
                      <a:r>
                        <a:t>95.0%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A5CF7"/>
                          </a:solidFill>
                          <a:latin typeface="Calibri"/>
                        </a:defRPr>
                      </a:pPr>
                      <a:r>
                        <a:t>93.0%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96"/>
                          </a:solidFill>
                          <a:latin typeface="Calibri"/>
                        </a:defRPr>
                      </a:pPr>
                      <a:r>
                        <a:t>94.5%</a:t>
                      </a:r>
                    </a:p>
                  </a:txBody>
                  <a:tcPr anchor="ctr" marL="73152" marR="73152" marT="54864" marB="54864">
                    <a:solidFill>
                      <a:srgbClr val="1818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0" y="43891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596"/>
                </a:solidFill>
                <a:latin typeface="Calibri"/>
              </a:defRPr>
            </a:pPr>
            <a:r>
              <a:t>🏆  Highest overall average: GPT-5.6 Terra  (95.1%)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Calibri"/>
              </a:defRPr>
            </a:pPr>
            <a:r>
              <a:t>Note: All three models perform exceptionally well (&gt;94% average), demonstrating that modern LLMs are highly capable at structured SOAP extraction from STT transcripts.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