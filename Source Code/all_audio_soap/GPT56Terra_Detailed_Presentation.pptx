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AA5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914400"/>
            <a:ext cx="10332720" cy="685800"/>
          </a:xfrm>
          <a:prstGeom prst="rect">
            <a:avLst/>
          </a:prstGeom>
          <a:noFill/>
        </p:spPr>
        <p:txBody>
          <a:bodyPr wrap="square">
            <a:spAutoFit/>
          </a:bodyPr>
          <a:lstStyle/>
          <a:p>
            <a:pPr algn="ctr">
              <a:defRPr sz="4200" b="1">
                <a:solidFill>
                  <a:srgbClr val="AA5CF7"/>
                </a:solidFill>
                <a:latin typeface="Calibri"/>
              </a:defRPr>
            </a:pPr>
            <a:r>
              <a:t>Case Study: CAR0001</a:t>
            </a:r>
          </a:p>
        </p:txBody>
      </p:sp>
      <p:sp>
        <p:nvSpPr>
          <p:cNvPr id="4" name="TextBox 3"/>
          <p:cNvSpPr txBox="1"/>
          <p:nvPr/>
        </p:nvSpPr>
        <p:spPr>
          <a:xfrm>
            <a:off x="914400" y="1691640"/>
            <a:ext cx="10332720" cy="457200"/>
          </a:xfrm>
          <a:prstGeom prst="rect">
            <a:avLst/>
          </a:prstGeom>
          <a:noFill/>
        </p:spPr>
        <p:txBody>
          <a:bodyPr wrap="square">
            <a:spAutoFit/>
          </a:bodyPr>
          <a:lstStyle/>
          <a:p>
            <a:pPr algn="ctr">
              <a:defRPr sz="2200" b="0">
                <a:solidFill>
                  <a:srgbClr val="F0F0FF"/>
                </a:solidFill>
                <a:latin typeface="Calibri"/>
              </a:defRPr>
            </a:pPr>
            <a:r>
              <a:t>Cardiology — Chest Pain</a:t>
            </a:r>
          </a:p>
        </p:txBody>
      </p:sp>
      <p:sp>
        <p:nvSpPr>
          <p:cNvPr id="5" name="TextBox 4"/>
          <p:cNvSpPr txBox="1"/>
          <p:nvPr/>
        </p:nvSpPr>
        <p:spPr>
          <a:xfrm>
            <a:off x="914400" y="2240280"/>
            <a:ext cx="10332720" cy="365760"/>
          </a:xfrm>
          <a:prstGeom prst="rect">
            <a:avLst/>
          </a:prstGeom>
          <a:noFill/>
        </p:spPr>
        <p:txBody>
          <a:bodyPr wrap="square">
            <a:spAutoFit/>
          </a:bodyPr>
          <a:lstStyle/>
          <a:p>
            <a:pPr algn="ctr">
              <a:defRPr sz="1600" b="0">
                <a:solidFill>
                  <a:srgbClr val="8888AA"/>
                </a:solidFill>
                <a:latin typeface="Calibri"/>
              </a:defRPr>
            </a:pPr>
            <a:r>
              <a:t>SOAP Extraction Analysis  ·  GPT-5.6 Terra</a:t>
            </a:r>
          </a:p>
        </p:txBody>
      </p:sp>
      <p:sp>
        <p:nvSpPr>
          <p:cNvPr id="6" name="Rounded Rectangle 5"/>
          <p:cNvSpPr/>
          <p:nvPr/>
        </p:nvSpPr>
        <p:spPr>
          <a:xfrm>
            <a:off x="1097280" y="3017520"/>
            <a:ext cx="2286000" cy="777240"/>
          </a:xfrm>
          <a:prstGeom prst="roundRect">
            <a:avLst>
              <a:gd name="adj" fmla="val 4000"/>
            </a:avLst>
          </a:prstGeom>
          <a:solidFill>
            <a:srgbClr val="14142E"/>
          </a:solidFill>
          <a:ln w="9525">
            <a:solidFill>
              <a:srgbClr val="282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3090672"/>
            <a:ext cx="2286000" cy="320040"/>
          </a:xfrm>
          <a:prstGeom prst="rect">
            <a:avLst/>
          </a:prstGeom>
          <a:noFill/>
        </p:spPr>
        <p:txBody>
          <a:bodyPr wrap="square">
            <a:spAutoFit/>
          </a:bodyPr>
          <a:lstStyle/>
          <a:p>
            <a:pPr algn="ctr">
              <a:defRPr sz="1100" b="0">
                <a:solidFill>
                  <a:srgbClr val="8888AA"/>
                </a:solidFill>
                <a:latin typeface="Calibri"/>
              </a:defRPr>
            </a:pPr>
            <a:r>
              <a:t>Clinical Fidelity</a:t>
            </a:r>
          </a:p>
        </p:txBody>
      </p:sp>
      <p:sp>
        <p:nvSpPr>
          <p:cNvPr id="8" name="TextBox 7"/>
          <p:cNvSpPr txBox="1"/>
          <p:nvPr/>
        </p:nvSpPr>
        <p:spPr>
          <a:xfrm>
            <a:off x="1097280" y="3401568"/>
            <a:ext cx="2286000" cy="384048"/>
          </a:xfrm>
          <a:prstGeom prst="rect">
            <a:avLst/>
          </a:prstGeom>
          <a:noFill/>
        </p:spPr>
        <p:txBody>
          <a:bodyPr wrap="square">
            <a:spAutoFit/>
          </a:bodyPr>
          <a:lstStyle/>
          <a:p>
            <a:pPr algn="ctr">
              <a:defRPr sz="2400" b="1">
                <a:solidFill>
                  <a:srgbClr val="AA5CF7"/>
                </a:solidFill>
                <a:latin typeface="Calibri"/>
              </a:defRPr>
            </a:pPr>
            <a:r>
              <a:t>95%</a:t>
            </a:r>
          </a:p>
        </p:txBody>
      </p:sp>
      <p:sp>
        <p:nvSpPr>
          <p:cNvPr id="9" name="Rounded Rectangle 8"/>
          <p:cNvSpPr/>
          <p:nvPr/>
        </p:nvSpPr>
        <p:spPr>
          <a:xfrm>
            <a:off x="3688080" y="3017520"/>
            <a:ext cx="2286000" cy="777240"/>
          </a:xfrm>
          <a:prstGeom prst="roundRect">
            <a:avLst>
              <a:gd name="adj" fmla="val 4000"/>
            </a:avLst>
          </a:prstGeom>
          <a:solidFill>
            <a:srgbClr val="14142E"/>
          </a:solidFill>
          <a:ln w="9525">
            <a:solidFill>
              <a:srgbClr val="282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88080" y="3090672"/>
            <a:ext cx="2286000" cy="320040"/>
          </a:xfrm>
          <a:prstGeom prst="rect">
            <a:avLst/>
          </a:prstGeom>
          <a:noFill/>
        </p:spPr>
        <p:txBody>
          <a:bodyPr wrap="square">
            <a:spAutoFit/>
          </a:bodyPr>
          <a:lstStyle/>
          <a:p>
            <a:pPr algn="ctr">
              <a:defRPr sz="1100" b="0">
                <a:solidFill>
                  <a:srgbClr val="8888AA"/>
                </a:solidFill>
                <a:latin typeface="Calibri"/>
              </a:defRPr>
            </a:pPr>
            <a:r>
              <a:t>Logical Consistency</a:t>
            </a:r>
          </a:p>
        </p:txBody>
      </p:sp>
      <p:sp>
        <p:nvSpPr>
          <p:cNvPr id="11" name="TextBox 10"/>
          <p:cNvSpPr txBox="1"/>
          <p:nvPr/>
        </p:nvSpPr>
        <p:spPr>
          <a:xfrm>
            <a:off x="3688080" y="3401568"/>
            <a:ext cx="2286000" cy="384048"/>
          </a:xfrm>
          <a:prstGeom prst="rect">
            <a:avLst/>
          </a:prstGeom>
          <a:noFill/>
        </p:spPr>
        <p:txBody>
          <a:bodyPr wrap="square">
            <a:spAutoFit/>
          </a:bodyPr>
          <a:lstStyle/>
          <a:p>
            <a:pPr algn="ctr">
              <a:defRPr sz="2400" b="1">
                <a:solidFill>
                  <a:srgbClr val="AA5CF7"/>
                </a:solidFill>
                <a:latin typeface="Calibri"/>
              </a:defRPr>
            </a:pPr>
            <a:r>
              <a:t>95%</a:t>
            </a:r>
          </a:p>
        </p:txBody>
      </p:sp>
      <p:sp>
        <p:nvSpPr>
          <p:cNvPr id="12" name="Rounded Rectangle 11"/>
          <p:cNvSpPr/>
          <p:nvPr/>
        </p:nvSpPr>
        <p:spPr>
          <a:xfrm>
            <a:off x="6278880" y="3017520"/>
            <a:ext cx="2286000" cy="777240"/>
          </a:xfrm>
          <a:prstGeom prst="roundRect">
            <a:avLst>
              <a:gd name="adj" fmla="val 4000"/>
            </a:avLst>
          </a:prstGeom>
          <a:solidFill>
            <a:srgbClr val="14142E"/>
          </a:solidFill>
          <a:ln w="9525">
            <a:solidFill>
              <a:srgbClr val="282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78880" y="3090672"/>
            <a:ext cx="2286000" cy="320040"/>
          </a:xfrm>
          <a:prstGeom prst="rect">
            <a:avLst/>
          </a:prstGeom>
          <a:noFill/>
        </p:spPr>
        <p:txBody>
          <a:bodyPr wrap="square">
            <a:spAutoFit/>
          </a:bodyPr>
          <a:lstStyle/>
          <a:p>
            <a:pPr algn="ctr">
              <a:defRPr sz="1100" b="0">
                <a:solidFill>
                  <a:srgbClr val="8888AA"/>
                </a:solidFill>
                <a:latin typeface="Calibri"/>
              </a:defRPr>
            </a:pPr>
            <a:r>
              <a:t>SOAP Structural Fidelity</a:t>
            </a:r>
          </a:p>
        </p:txBody>
      </p:sp>
      <p:sp>
        <p:nvSpPr>
          <p:cNvPr id="14" name="TextBox 13"/>
          <p:cNvSpPr txBox="1"/>
          <p:nvPr/>
        </p:nvSpPr>
        <p:spPr>
          <a:xfrm>
            <a:off x="6278880" y="3401568"/>
            <a:ext cx="2286000" cy="384048"/>
          </a:xfrm>
          <a:prstGeom prst="rect">
            <a:avLst/>
          </a:prstGeom>
          <a:noFill/>
        </p:spPr>
        <p:txBody>
          <a:bodyPr wrap="square">
            <a:spAutoFit/>
          </a:bodyPr>
          <a:lstStyle/>
          <a:p>
            <a:pPr algn="ctr">
              <a:defRPr sz="2400" b="1">
                <a:solidFill>
                  <a:srgbClr val="AA5CF7"/>
                </a:solidFill>
                <a:latin typeface="Calibri"/>
              </a:defRPr>
            </a:pPr>
            <a:r>
              <a:t>90%</a:t>
            </a:r>
          </a:p>
        </p:txBody>
      </p:sp>
      <p:sp>
        <p:nvSpPr>
          <p:cNvPr id="15" name="Rounded Rectangle 14"/>
          <p:cNvSpPr/>
          <p:nvPr/>
        </p:nvSpPr>
        <p:spPr>
          <a:xfrm>
            <a:off x="8869680" y="3017520"/>
            <a:ext cx="2286000" cy="777240"/>
          </a:xfrm>
          <a:prstGeom prst="roundRect">
            <a:avLst>
              <a:gd name="adj" fmla="val 4000"/>
            </a:avLst>
          </a:prstGeom>
          <a:solidFill>
            <a:srgbClr val="14142E"/>
          </a:solidFill>
          <a:ln w="9525">
            <a:solidFill>
              <a:srgbClr val="282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69680" y="3090672"/>
            <a:ext cx="2286000" cy="320040"/>
          </a:xfrm>
          <a:prstGeom prst="rect">
            <a:avLst/>
          </a:prstGeom>
          <a:noFill/>
        </p:spPr>
        <p:txBody>
          <a:bodyPr wrap="square">
            <a:spAutoFit/>
          </a:bodyPr>
          <a:lstStyle/>
          <a:p>
            <a:pPr algn="ctr">
              <a:defRPr sz="1100" b="0">
                <a:solidFill>
                  <a:srgbClr val="8888AA"/>
                </a:solidFill>
                <a:latin typeface="Calibri"/>
              </a:defRPr>
            </a:pPr>
            <a:r>
              <a:t>Overall Average</a:t>
            </a:r>
          </a:p>
        </p:txBody>
      </p:sp>
      <p:sp>
        <p:nvSpPr>
          <p:cNvPr id="17" name="TextBox 16"/>
          <p:cNvSpPr txBox="1"/>
          <p:nvPr/>
        </p:nvSpPr>
        <p:spPr>
          <a:xfrm>
            <a:off x="8869680" y="3401568"/>
            <a:ext cx="2286000" cy="384048"/>
          </a:xfrm>
          <a:prstGeom prst="rect">
            <a:avLst/>
          </a:prstGeom>
          <a:noFill/>
        </p:spPr>
        <p:txBody>
          <a:bodyPr wrap="square">
            <a:spAutoFit/>
          </a:bodyPr>
          <a:lstStyle/>
          <a:p>
            <a:pPr algn="ctr">
              <a:defRPr sz="2400" b="1">
                <a:solidFill>
                  <a:srgbClr val="FFCC00"/>
                </a:solidFill>
                <a:latin typeface="Calibri"/>
              </a:defRPr>
            </a:pPr>
            <a:r>
              <a:t>93.3%</a:t>
            </a:r>
          </a:p>
        </p:txBody>
      </p:sp>
      <p:sp>
        <p:nvSpPr>
          <p:cNvPr id="18" name="TextBox 17"/>
          <p:cNvSpPr txBox="1"/>
          <p:nvPr/>
        </p:nvSpPr>
        <p:spPr>
          <a:xfrm>
            <a:off x="914400" y="4114800"/>
            <a:ext cx="10332720" cy="320040"/>
          </a:xfrm>
          <a:prstGeom prst="rect">
            <a:avLst/>
          </a:prstGeom>
          <a:noFill/>
        </p:spPr>
        <p:txBody>
          <a:bodyPr wrap="square">
            <a:spAutoFit/>
          </a:bodyPr>
          <a:lstStyle/>
          <a:p>
            <a:pPr algn="ctr">
              <a:defRPr sz="1200" b="0">
                <a:solidFill>
                  <a:srgbClr val="8888AA"/>
                </a:solidFill>
                <a:latin typeface="Calibri"/>
              </a:defRPr>
            </a:pPr>
            <a:r>
              <a:t>Evaluated by gemini-3.5-flash-lite  |  Scale: 0–100%  |  Paper-aligned metrics</a:t>
            </a:r>
          </a:p>
        </p:txBody>
      </p:sp>
      <p:sp>
        <p:nvSpPr>
          <p:cNvPr id="19" name="Rectangle 18"/>
          <p:cNvSpPr/>
          <p:nvPr/>
        </p:nvSpPr>
        <p:spPr>
          <a:xfrm>
            <a:off x="0" y="6675120"/>
            <a:ext cx="12191695" cy="91440"/>
          </a:xfrm>
          <a:prstGeom prst="rect">
            <a:avLst/>
          </a:prstGeom>
          <a:solidFill>
            <a:srgbClr val="AA5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TextBox 1"/>
          <p:cNvSpPr txBox="1"/>
          <p:nvPr/>
        </p:nvSpPr>
        <p:spPr>
          <a:xfrm>
            <a:off x="457200" y="182880"/>
            <a:ext cx="11247120" cy="502920"/>
          </a:xfrm>
          <a:prstGeom prst="rect">
            <a:avLst/>
          </a:prstGeom>
          <a:noFill/>
        </p:spPr>
        <p:txBody>
          <a:bodyPr wrap="square">
            <a:spAutoFit/>
          </a:bodyPr>
          <a:lstStyle/>
          <a:p>
            <a:pPr algn="l">
              <a:defRPr sz="2200" b="1">
                <a:solidFill>
                  <a:srgbClr val="AA5CF7"/>
                </a:solidFill>
                <a:latin typeface="Calibri"/>
              </a:defRPr>
            </a:pPr>
            <a:r>
              <a:t>CAR0001 — Speech-to-Text Transcript Comparison</a:t>
            </a:r>
          </a:p>
        </p:txBody>
      </p:sp>
      <p:sp>
        <p:nvSpPr>
          <p:cNvPr id="3" name="TextBox 2"/>
          <p:cNvSpPr txBox="1"/>
          <p:nvPr/>
        </p:nvSpPr>
        <p:spPr>
          <a:xfrm>
            <a:off x="457200" y="749808"/>
            <a:ext cx="11247120" cy="292608"/>
          </a:xfrm>
          <a:prstGeom prst="rect">
            <a:avLst/>
          </a:prstGeom>
          <a:noFill/>
        </p:spPr>
        <p:txBody>
          <a:bodyPr wrap="square">
            <a:spAutoFit/>
          </a:bodyPr>
          <a:lstStyle/>
          <a:p>
            <a:pPr algn="l">
              <a:defRPr sz="1300" b="0">
                <a:solidFill>
                  <a:srgbClr val="8888AA"/>
                </a:solidFill>
                <a:latin typeface="Calibri"/>
              </a:defRPr>
            </a:pPr>
            <a:r>
              <a:t>Ground Truth dialogue vs GPT-5.6 Terra diarized STT output (first ~100 words)</a:t>
            </a:r>
          </a:p>
        </p:txBody>
      </p:sp>
      <p:sp>
        <p:nvSpPr>
          <p:cNvPr id="4" name="Rounded Rectangle 3"/>
          <p:cNvSpPr/>
          <p:nvPr/>
        </p:nvSpPr>
        <p:spPr>
          <a:xfrm>
            <a:off x="274320" y="1170432"/>
            <a:ext cx="5577840" cy="5349240"/>
          </a:xfrm>
          <a:prstGeom prst="roundRect">
            <a:avLst>
              <a:gd name="adj" fmla="val 4000"/>
            </a:avLst>
          </a:prstGeom>
          <a:solidFill>
            <a:srgbClr val="14142E"/>
          </a:solidFill>
          <a:ln w="9525">
            <a:solidFill>
              <a:srgbClr val="282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335024"/>
            <a:ext cx="3474720" cy="384048"/>
          </a:xfrm>
          <a:prstGeom prst="roundRect">
            <a:avLst>
              <a:gd name="adj" fmla="val 50000"/>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300" b="1">
                <a:solidFill>
                  <a:srgbClr val="0A0A1A"/>
                </a:solidFill>
                <a:latin typeface="Calibri"/>
              </a:defRPr>
            </a:pPr>
            <a:r>
              <a:t>📄  Real Transcript (Ground Truth)</a:t>
            </a:r>
          </a:p>
        </p:txBody>
      </p:sp>
      <p:sp>
        <p:nvSpPr>
          <p:cNvPr id="6" name="TextBox 5"/>
          <p:cNvSpPr txBox="1"/>
          <p:nvPr/>
        </p:nvSpPr>
        <p:spPr>
          <a:xfrm>
            <a:off x="502920" y="1856232"/>
            <a:ext cx="5166360" cy="4434840"/>
          </a:xfrm>
          <a:prstGeom prst="rect">
            <a:avLst/>
          </a:prstGeom>
          <a:noFill/>
        </p:spPr>
        <p:txBody>
          <a:bodyPr wrap="square">
            <a:spAutoFit/>
          </a:bodyPr>
          <a:lstStyle/>
          <a:p>
            <a:pPr algn="l">
              <a:defRPr sz="1300" b="0">
                <a:solidFill>
                  <a:srgbClr val="F0F0FF"/>
                </a:solidFill>
                <a:latin typeface="Calibri"/>
              </a:defRPr>
            </a:pPr>
            <a:r>
              <a:t>D: What brought you in today?</a:t>
            </a:r>
            <a:br/>
            <a:r>
              <a:t>P: Sure, I'm I'm just having a lot of chest pain and and so I thought I should get it checked out.</a:t>
            </a:r>
            <a:br/>
            <a:r>
              <a:t>D: OK, before we start, could you remind me of your gender and age?</a:t>
            </a:r>
            <a:br/>
            <a:r>
              <a:t>P: Sure 39, I'm a male.</a:t>
            </a:r>
            <a:br/>
            <a:r>
              <a:t>D: OK, and so when did this chest pain start?</a:t>
            </a:r>
            <a:br/>
            <a:r>
              <a:t>P: It started last night, but it's becoming sharper.</a:t>
            </a:r>
            <a:br/>
            <a:r>
              <a:t>D: OK, and where is this pain located?</a:t>
            </a:r>
            <a:br/>
            <a:r>
              <a:t>P: It's located on the left side of my chest.</a:t>
            </a:r>
            <a:br/>
            <a:r>
              <a:t>...</a:t>
            </a:r>
          </a:p>
        </p:txBody>
      </p:sp>
      <p:sp>
        <p:nvSpPr>
          <p:cNvPr id="7" name="Rounded Rectangle 6"/>
          <p:cNvSpPr/>
          <p:nvPr/>
        </p:nvSpPr>
        <p:spPr>
          <a:xfrm>
            <a:off x="6172200" y="1170432"/>
            <a:ext cx="5577840" cy="5349240"/>
          </a:xfrm>
          <a:prstGeom prst="roundRect">
            <a:avLst>
              <a:gd name="adj" fmla="val 4000"/>
            </a:avLst>
          </a:prstGeom>
          <a:solidFill>
            <a:srgbClr val="14142E"/>
          </a:solidFill>
          <a:ln w="9525">
            <a:solidFill>
              <a:srgbClr val="282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00800" y="1335024"/>
            <a:ext cx="3749039" cy="384048"/>
          </a:xfrm>
          <a:prstGeom prst="roundRect">
            <a:avLst>
              <a:gd name="adj" fmla="val 50000"/>
            </a:avLst>
          </a:prstGeom>
          <a:solidFill>
            <a:srgbClr val="AA5CF7"/>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300" b="1">
                <a:solidFill>
                  <a:srgbClr val="F0F0FF"/>
                </a:solidFill>
                <a:latin typeface="Calibri"/>
              </a:defRPr>
            </a:pPr>
            <a:r>
              <a:t>🤖  GPT-5.6 Terra Diarized STT</a:t>
            </a:r>
          </a:p>
        </p:txBody>
      </p:sp>
      <p:sp>
        <p:nvSpPr>
          <p:cNvPr id="9" name="TextBox 8"/>
          <p:cNvSpPr txBox="1"/>
          <p:nvPr/>
        </p:nvSpPr>
        <p:spPr>
          <a:xfrm>
            <a:off x="6400800" y="1856232"/>
            <a:ext cx="5166360" cy="4434840"/>
          </a:xfrm>
          <a:prstGeom prst="rect">
            <a:avLst/>
          </a:prstGeom>
          <a:noFill/>
        </p:spPr>
        <p:txBody>
          <a:bodyPr wrap="square">
            <a:spAutoFit/>
          </a:bodyPr>
          <a:lstStyle/>
          <a:p>
            <a:pPr algn="l">
              <a:defRPr sz="1300" b="0">
                <a:solidFill>
                  <a:srgbClr val="F0F0FF"/>
                </a:solidFill>
                <a:latin typeface="Calibri"/>
              </a:defRPr>
            </a:pPr>
            <a:r>
              <a:t>P: brought you in today? Sure I'm just having a lot of chest pain and so I thought I should get it</a:t>
            </a:r>
            <a:br/>
            <a:r>
              <a:t>D: checked out. Okay and before we start could you remind me of your gender and age? Sure I'm 39</a:t>
            </a:r>
            <a:br/>
            <a:r>
              <a:t>P: I'm a male. Okay and so when did this chest pain start? It started last night but it's becoming</a:t>
            </a:r>
            <a:br/>
            <a:r>
              <a:t>D: sharper. Okay and where is this pain located? It's located on the left side of my chest. Okay and</a:t>
            </a:r>
            <a:br/>
            <a: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TextBox 1"/>
          <p:cNvSpPr txBox="1"/>
          <p:nvPr/>
        </p:nvSpPr>
        <p:spPr>
          <a:xfrm>
            <a:off x="457200" y="182880"/>
            <a:ext cx="11247120" cy="502920"/>
          </a:xfrm>
          <a:prstGeom prst="rect">
            <a:avLst/>
          </a:prstGeom>
          <a:noFill/>
        </p:spPr>
        <p:txBody>
          <a:bodyPr wrap="square">
            <a:spAutoFit/>
          </a:bodyPr>
          <a:lstStyle/>
          <a:p>
            <a:pPr algn="l">
              <a:defRPr sz="2200" b="1">
                <a:solidFill>
                  <a:srgbClr val="AA5CF7"/>
                </a:solidFill>
                <a:latin typeface="Calibri"/>
              </a:defRPr>
            </a:pPr>
            <a:r>
              <a:t>CAR0001 — Clinical Summary Comparison</a:t>
            </a:r>
          </a:p>
        </p:txBody>
      </p:sp>
      <p:sp>
        <p:nvSpPr>
          <p:cNvPr id="3" name="TextBox 2"/>
          <p:cNvSpPr txBox="1"/>
          <p:nvPr/>
        </p:nvSpPr>
        <p:spPr>
          <a:xfrm>
            <a:off x="457200" y="749808"/>
            <a:ext cx="11247120" cy="292608"/>
          </a:xfrm>
          <a:prstGeom prst="rect">
            <a:avLst/>
          </a:prstGeom>
          <a:noFill/>
        </p:spPr>
        <p:txBody>
          <a:bodyPr wrap="square">
            <a:spAutoFit/>
          </a:bodyPr>
          <a:lstStyle/>
          <a:p>
            <a:pPr algn="l">
              <a:defRPr sz="1300" b="0">
                <a:solidFill>
                  <a:srgbClr val="8888AA"/>
                </a:solidFill>
                <a:latin typeface="Calibri"/>
              </a:defRPr>
            </a:pPr>
            <a:r>
              <a:t>AI-extracted clinical summary: Ground Truth vs GPT-5.6 Terra (first ~100 words)</a:t>
            </a:r>
          </a:p>
        </p:txBody>
      </p:sp>
      <p:sp>
        <p:nvSpPr>
          <p:cNvPr id="4" name="Rounded Rectangle 3"/>
          <p:cNvSpPr/>
          <p:nvPr/>
        </p:nvSpPr>
        <p:spPr>
          <a:xfrm>
            <a:off x="274320" y="1170432"/>
            <a:ext cx="5577840" cy="5349240"/>
          </a:xfrm>
          <a:prstGeom prst="roundRect">
            <a:avLst>
              <a:gd name="adj" fmla="val 4000"/>
            </a:avLst>
          </a:prstGeom>
          <a:solidFill>
            <a:srgbClr val="14142E"/>
          </a:solidFill>
          <a:ln w="9525">
            <a:solidFill>
              <a:srgbClr val="282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335024"/>
            <a:ext cx="3291840" cy="384048"/>
          </a:xfrm>
          <a:prstGeom prst="roundRect">
            <a:avLst>
              <a:gd name="adj" fmla="val 50000"/>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300" b="1">
                <a:solidFill>
                  <a:srgbClr val="0A0A1A"/>
                </a:solidFill>
                <a:latin typeface="Calibri"/>
              </a:defRPr>
            </a:pPr>
            <a:r>
              <a:t>📄  Ground Truth Summary</a:t>
            </a:r>
          </a:p>
        </p:txBody>
      </p:sp>
      <p:sp>
        <p:nvSpPr>
          <p:cNvPr id="6" name="TextBox 5"/>
          <p:cNvSpPr txBox="1"/>
          <p:nvPr/>
        </p:nvSpPr>
        <p:spPr>
          <a:xfrm>
            <a:off x="502920" y="1856232"/>
            <a:ext cx="5166360" cy="4434840"/>
          </a:xfrm>
          <a:prstGeom prst="rect">
            <a:avLst/>
          </a:prstGeom>
          <a:noFill/>
        </p:spPr>
        <p:txBody>
          <a:bodyPr wrap="square">
            <a:spAutoFit/>
          </a:bodyPr>
          <a:lstStyle/>
          <a:p>
            <a:pPr algn="l">
              <a:defRPr sz="1300" b="0">
                <a:solidFill>
                  <a:srgbClr val="F0F0FF"/>
                </a:solidFill>
                <a:latin typeface="Calibri"/>
              </a:defRPr>
            </a:pPr>
            <a:r>
              <a:t>The patient, a 39-year-old male, presents with 8 hours of sharp, constant left-sided chest pain that worsens with lying down and deep breaths. He reports associated symptoms of lightheadedness, dyspnea, and mild palpitations, and noted visible neck swelling without accompanying pain.</a:t>
            </a:r>
          </a:p>
        </p:txBody>
      </p:sp>
      <p:sp>
        <p:nvSpPr>
          <p:cNvPr id="7" name="Rounded Rectangle 6"/>
          <p:cNvSpPr/>
          <p:nvPr/>
        </p:nvSpPr>
        <p:spPr>
          <a:xfrm>
            <a:off x="6172200" y="1170432"/>
            <a:ext cx="5577840" cy="5349240"/>
          </a:xfrm>
          <a:prstGeom prst="roundRect">
            <a:avLst>
              <a:gd name="adj" fmla="val 4000"/>
            </a:avLst>
          </a:prstGeom>
          <a:solidFill>
            <a:srgbClr val="14142E"/>
          </a:solidFill>
          <a:ln w="9525">
            <a:solidFill>
              <a:srgbClr val="282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00800" y="1335024"/>
            <a:ext cx="3474720" cy="384048"/>
          </a:xfrm>
          <a:prstGeom prst="roundRect">
            <a:avLst>
              <a:gd name="adj" fmla="val 50000"/>
            </a:avLst>
          </a:prstGeom>
          <a:solidFill>
            <a:srgbClr val="AA5CF7"/>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300" b="1">
                <a:solidFill>
                  <a:srgbClr val="F0F0FF"/>
                </a:solidFill>
                <a:latin typeface="Calibri"/>
              </a:defRPr>
            </a:pPr>
            <a:r>
              <a:t>🤖  GPT-5.6 Terra Summary</a:t>
            </a:r>
          </a:p>
        </p:txBody>
      </p:sp>
      <p:sp>
        <p:nvSpPr>
          <p:cNvPr id="9" name="TextBox 8"/>
          <p:cNvSpPr txBox="1"/>
          <p:nvPr/>
        </p:nvSpPr>
        <p:spPr>
          <a:xfrm>
            <a:off x="6400800" y="1856232"/>
            <a:ext cx="5166360" cy="4434840"/>
          </a:xfrm>
          <a:prstGeom prst="rect">
            <a:avLst/>
          </a:prstGeom>
          <a:noFill/>
        </p:spPr>
        <p:txBody>
          <a:bodyPr wrap="square">
            <a:spAutoFit/>
          </a:bodyPr>
          <a:lstStyle/>
          <a:p>
            <a:pPr algn="l">
              <a:defRPr sz="1300" b="0">
                <a:solidFill>
                  <a:srgbClr val="F0F0FF"/>
                </a:solidFill>
                <a:latin typeface="Calibri"/>
              </a:defRPr>
            </a:pPr>
            <a:r>
              <a:t>A 39-year-old man presents with acute, constant, sharp left-sided chest pain beginning last night (approximately 8 hours), rated 7-8/10 and becoming sharper. Pain is worse when lying down and possibly with deep inspiration, and is associated with dyspnea, light-headedness, mild palpitations, sweating with dyspnea, intermittent noisy breathing during severe dyspnea, and perceived neck swelling. He has significant cardiovascular risk factors including cigarette smoking and a father with myocardial infarction at age 45.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TextBox 1"/>
          <p:cNvSpPr txBox="1"/>
          <p:nvPr/>
        </p:nvSpPr>
        <p:spPr>
          <a:xfrm>
            <a:off x="365760" y="137160"/>
            <a:ext cx="11430000" cy="457200"/>
          </a:xfrm>
          <a:prstGeom prst="rect">
            <a:avLst/>
          </a:prstGeom>
          <a:noFill/>
        </p:spPr>
        <p:txBody>
          <a:bodyPr wrap="square">
            <a:spAutoFit/>
          </a:bodyPr>
          <a:lstStyle/>
          <a:p>
            <a:pPr algn="l">
              <a:defRPr sz="2000" b="1">
                <a:solidFill>
                  <a:srgbClr val="AA5CF7"/>
                </a:solidFill>
                <a:latin typeface="Calibri"/>
              </a:defRPr>
            </a:pPr>
            <a:r>
              <a:t>CAR0001 — Structured SOAP Report Comparison</a:t>
            </a:r>
          </a:p>
        </p:txBody>
      </p:sp>
      <p:graphicFrame>
        <p:nvGraphicFramePr>
          <p:cNvPr id="3" name="Table 2"/>
          <p:cNvGraphicFramePr>
            <a:graphicFrameLocks noGrp="1"/>
          </p:cNvGraphicFramePr>
          <p:nvPr/>
        </p:nvGraphicFramePr>
        <p:xfrm>
          <a:off x="274320" y="713232"/>
          <a:ext cx="11612880" cy="5989320"/>
        </p:xfrm>
        <a:graphic>
          <a:graphicData uri="http://schemas.openxmlformats.org/drawingml/2006/table">
            <a:tbl>
              <a:tblPr firstRow="1" bandRow="1">
                <a:tableStyleId>{5C22544A-7EE6-4342-B048-85BDC9FD1C3A}</a:tableStyleId>
              </a:tblPr>
              <a:tblGrid>
                <a:gridCol w="1691640"/>
                <a:gridCol w="4965192"/>
                <a:gridCol w="4956048"/>
              </a:tblGrid>
              <a:tr h="427808">
                <a:tc>
                  <a:txBody>
                    <a:bodyPr/>
                    <a:lstStyle/>
                    <a:p>
                      <a:pPr algn="ctr">
                        <a:defRPr sz="1100" b="1">
                          <a:solidFill>
                            <a:srgbClr val="AA5CF7"/>
                          </a:solidFill>
                          <a:latin typeface="Calibri"/>
                        </a:defRPr>
                      </a:pPr>
                      <a:r>
                        <a:t>SOAP Field</a:t>
                      </a:r>
                    </a:p>
                  </a:txBody>
                  <a:tcPr anchor="ctr">
                    <a:solidFill>
                      <a:srgbClr val="1E1E40"/>
                    </a:solidFill>
                  </a:tcPr>
                </a:tc>
                <a:tc>
                  <a:txBody>
                    <a:bodyPr/>
                    <a:lstStyle/>
                    <a:p>
                      <a:pPr algn="ctr">
                        <a:defRPr sz="1100" b="1">
                          <a:solidFill>
                            <a:srgbClr val="00E596"/>
                          </a:solidFill>
                          <a:latin typeface="Calibri"/>
                        </a:defRPr>
                      </a:pPr>
                      <a:r>
                        <a:t>Ground Truth</a:t>
                      </a:r>
                    </a:p>
                  </a:txBody>
                  <a:tcPr anchor="ctr">
                    <a:solidFill>
                      <a:srgbClr val="1E1E40"/>
                    </a:solidFill>
                  </a:tcPr>
                </a:tc>
                <a:tc>
                  <a:txBody>
                    <a:bodyPr/>
                    <a:lstStyle/>
                    <a:p>
                      <a:pPr algn="ctr">
                        <a:defRPr sz="1100" b="1">
                          <a:solidFill>
                            <a:srgbClr val="AA5CF7"/>
                          </a:solidFill>
                          <a:latin typeface="Calibri"/>
                        </a:defRPr>
                      </a:pPr>
                      <a:r>
                        <a:t>Predicted (GPT-5.6 Terra)</a:t>
                      </a:r>
                    </a:p>
                  </a:txBody>
                  <a:tcPr anchor="ctr">
                    <a:solidFill>
                      <a:srgbClr val="1E1E40"/>
                    </a:solidFill>
                  </a:tcPr>
                </a:tc>
              </a:tr>
              <a:tr h="427808">
                <a:tc>
                  <a:txBody>
                    <a:bodyPr/>
                    <a:lstStyle/>
                    <a:p>
                      <a:pPr>
                        <a:defRPr sz="900" b="1">
                          <a:solidFill>
                            <a:srgbClr val="AA5CF7"/>
                          </a:solidFill>
                          <a:latin typeface="Calibri"/>
                        </a:defRPr>
                      </a:pPr>
                      <a:r>
                        <a:t>Chief Complaint</a:t>
                      </a:r>
                    </a:p>
                  </a:txBody>
                  <a:tcPr anchor="t" marL="64008" marR="64008" marT="27432" marB="27432">
                    <a:solidFill>
                      <a:srgbClr val="161630"/>
                    </a:solidFill>
                  </a:tcPr>
                </a:tc>
                <a:tc>
                  <a:txBody>
                    <a:bodyPr/>
                    <a:lstStyle/>
                    <a:p>
                      <a:pPr>
                        <a:defRPr sz="900" b="0">
                          <a:solidFill>
                            <a:srgbClr val="F0F0FF"/>
                          </a:solidFill>
                          <a:latin typeface="Calibri"/>
                        </a:defRPr>
                      </a:pPr>
                      <a:r>
                        <a:t>Chest pain</a:t>
                      </a:r>
                    </a:p>
                  </a:txBody>
                  <a:tcPr anchor="t" marL="64008" marR="64008" marT="27432" marB="27432">
                    <a:solidFill>
                      <a:srgbClr val="161630"/>
                    </a:solidFill>
                  </a:tcPr>
                </a:tc>
                <a:tc>
                  <a:txBody>
                    <a:bodyPr/>
                    <a:lstStyle/>
                    <a:p>
                      <a:pPr>
                        <a:defRPr sz="900" b="0">
                          <a:solidFill>
                            <a:srgbClr val="F0F0FF"/>
                          </a:solidFill>
                          <a:latin typeface="Calibri"/>
                        </a:defRPr>
                      </a:pPr>
                      <a:r>
                        <a:t>Acute left-sided chest pain.</a:t>
                      </a:r>
                    </a:p>
                  </a:txBody>
                  <a:tcPr anchor="t" marL="64008" marR="64008" marT="27432" marB="27432">
                    <a:solidFill>
                      <a:srgbClr val="161630"/>
                    </a:solidFill>
                  </a:tcPr>
                </a:tc>
              </a:tr>
              <a:tr h="427808">
                <a:tc>
                  <a:txBody>
                    <a:bodyPr/>
                    <a:lstStyle/>
                    <a:p>
                      <a:pPr>
                        <a:defRPr sz="900" b="1">
                          <a:solidFill>
                            <a:srgbClr val="AA5CF7"/>
                          </a:solidFill>
                          <a:latin typeface="Calibri"/>
                        </a:defRPr>
                      </a:pPr>
                      <a:r>
                        <a:t>Symptoms</a:t>
                      </a:r>
                    </a:p>
                  </a:txBody>
                  <a:tcPr anchor="t" marL="64008" marR="64008" marT="27432" marB="27432">
                    <a:solidFill>
                      <a:srgbClr val="1E1E3A"/>
                    </a:solidFill>
                  </a:tcPr>
                </a:tc>
                <a:tc>
                  <a:txBody>
                    <a:bodyPr/>
                    <a:lstStyle/>
                    <a:p>
                      <a:pPr>
                        <a:defRPr sz="900" b="0">
                          <a:solidFill>
                            <a:srgbClr val="F0F0FF"/>
                          </a:solidFill>
                          <a:latin typeface="Calibri"/>
                        </a:defRPr>
                      </a:pPr>
                      <a:r>
                        <a:t>sharp left-sided chest pain | worsening pain on lying down | worsening pain on deep breath | lightheadedness | dyspnea | palpitati...</a:t>
                      </a:r>
                    </a:p>
                  </a:txBody>
                  <a:tcPr anchor="t" marL="64008" marR="64008" marT="27432" marB="27432">
                    <a:solidFill>
                      <a:srgbClr val="1E1E3A"/>
                    </a:solidFill>
                  </a:tcPr>
                </a:tc>
                <a:tc>
                  <a:txBody>
                    <a:bodyPr/>
                    <a:lstStyle/>
                    <a:p>
                      <a:pPr>
                        <a:defRPr sz="900" b="0">
                          <a:solidFill>
                            <a:srgbClr val="F0F0FF"/>
                          </a:solidFill>
                          <a:latin typeface="Calibri"/>
                        </a:defRPr>
                      </a:pPr>
                      <a:r>
                        <a:t>Constant sharp left-sided chest pain, rated 7-8/10 and becoming sharper | Pain worsened by lying down | Pain possibly worsened by ...</a:t>
                      </a:r>
                    </a:p>
                  </a:txBody>
                  <a:tcPr anchor="t" marL="64008" marR="64008" marT="27432" marB="27432">
                    <a:solidFill>
                      <a:srgbClr val="1E1E3A"/>
                    </a:solidFill>
                  </a:tcPr>
                </a:tc>
              </a:tr>
              <a:tr h="427808">
                <a:tc>
                  <a:txBody>
                    <a:bodyPr/>
                    <a:lstStyle/>
                    <a:p>
                      <a:pPr>
                        <a:defRPr sz="900" b="1">
                          <a:solidFill>
                            <a:srgbClr val="AA5CF7"/>
                          </a:solidFill>
                          <a:latin typeface="Calibri"/>
                        </a:defRPr>
                      </a:pPr>
                      <a:r>
                        <a:t>Symptom Onset</a:t>
                      </a:r>
                    </a:p>
                  </a:txBody>
                  <a:tcPr anchor="t" marL="64008" marR="64008" marT="27432" marB="27432">
                    <a:solidFill>
                      <a:srgbClr val="161630"/>
                    </a:solidFill>
                  </a:tcPr>
                </a:tc>
                <a:tc>
                  <a:txBody>
                    <a:bodyPr/>
                    <a:lstStyle/>
                    <a:p>
                      <a:pPr>
                        <a:defRPr sz="900" b="0">
                          <a:solidFill>
                            <a:srgbClr val="F0F0FF"/>
                          </a:solidFill>
                          <a:latin typeface="Calibri"/>
                        </a:defRPr>
                      </a:pPr>
                      <a:r>
                        <a:t>Last night (approximately 8 hours ago)</a:t>
                      </a:r>
                    </a:p>
                  </a:txBody>
                  <a:tcPr anchor="t" marL="64008" marR="64008" marT="27432" marB="27432">
                    <a:solidFill>
                      <a:srgbClr val="161630"/>
                    </a:solidFill>
                  </a:tcPr>
                </a:tc>
                <a:tc>
                  <a:txBody>
                    <a:bodyPr/>
                    <a:lstStyle/>
                    <a:p>
                      <a:pPr>
                        <a:defRPr sz="900" b="0">
                          <a:solidFill>
                            <a:srgbClr val="F0F0FF"/>
                          </a:solidFill>
                          <a:latin typeface="Calibri"/>
                        </a:defRPr>
                      </a:pPr>
                      <a:r>
                        <a:t>Started last night; patient estimates duration of approximately 8 hours. Symptoms began while moving furniture, without perceived ...</a:t>
                      </a:r>
                    </a:p>
                  </a:txBody>
                  <a:tcPr anchor="t" marL="64008" marR="64008" marT="27432" marB="27432">
                    <a:solidFill>
                      <a:srgbClr val="161630"/>
                    </a:solidFill>
                  </a:tcPr>
                </a:tc>
              </a:tr>
              <a:tr h="427808">
                <a:tc>
                  <a:txBody>
                    <a:bodyPr/>
                    <a:lstStyle/>
                    <a:p>
                      <a:pPr>
                        <a:defRPr sz="900" b="1">
                          <a:solidFill>
                            <a:srgbClr val="AA5CF7"/>
                          </a:solidFill>
                          <a:latin typeface="Calibri"/>
                        </a:defRPr>
                      </a:pPr>
                      <a:r>
                        <a:t>Medical History</a:t>
                      </a:r>
                    </a:p>
                  </a:txBody>
                  <a:tcPr anchor="t" marL="64008" marR="64008" marT="27432" marB="27432">
                    <a:solidFill>
                      <a:srgbClr val="1E1E3A"/>
                    </a:solidFill>
                  </a:tcPr>
                </a:tc>
                <a:tc>
                  <a:txBody>
                    <a:bodyPr/>
                    <a:lstStyle/>
                    <a:p>
                      <a:pPr>
                        <a:defRPr sz="900" b="0">
                          <a:solidFill>
                            <a:srgbClr val="F0F0FF"/>
                          </a:solidFill>
                          <a:latin typeface="Calibri"/>
                        </a:defRPr>
                      </a:pPr>
                      <a:r>
                        <a:t>—</a:t>
                      </a:r>
                    </a:p>
                  </a:txBody>
                  <a:tcPr anchor="t" marL="64008" marR="64008" marT="27432" marB="27432">
                    <a:solidFill>
                      <a:srgbClr val="1E1E3A"/>
                    </a:solidFill>
                  </a:tcPr>
                </a:tc>
                <a:tc>
                  <a:txBody>
                    <a:bodyPr/>
                    <a:lstStyle/>
                    <a:p>
                      <a:pPr>
                        <a:defRPr sz="900" b="0">
                          <a:solidFill>
                            <a:srgbClr val="F0F0FF"/>
                          </a:solidFill>
                          <a:latin typeface="Calibri"/>
                        </a:defRPr>
                      </a:pPr>
                      <a:r>
                        <a:t>No prior medical conditions | No recent hospitalizations | No prior surgeries | No previous similar episode | Immunizations report...</a:t>
                      </a:r>
                    </a:p>
                  </a:txBody>
                  <a:tcPr anchor="t" marL="64008" marR="64008" marT="27432" marB="27432">
                    <a:solidFill>
                      <a:srgbClr val="1E1E3A"/>
                    </a:solidFill>
                  </a:tcPr>
                </a:tc>
              </a:tr>
              <a:tr h="427808">
                <a:tc>
                  <a:txBody>
                    <a:bodyPr/>
                    <a:lstStyle/>
                    <a:p>
                      <a:pPr>
                        <a:defRPr sz="900" b="1">
                          <a:solidFill>
                            <a:srgbClr val="AA5CF7"/>
                          </a:solidFill>
                          <a:latin typeface="Calibri"/>
                        </a:defRPr>
                      </a:pPr>
                      <a:r>
                        <a:t>Curr. Medications</a:t>
                      </a:r>
                    </a:p>
                  </a:txBody>
                  <a:tcPr anchor="t" marL="64008" marR="64008" marT="27432" marB="27432">
                    <a:solidFill>
                      <a:srgbClr val="161630"/>
                    </a:solidFill>
                  </a:tcPr>
                </a:tc>
                <a:tc>
                  <a:txBody>
                    <a:bodyPr/>
                    <a:lstStyle/>
                    <a:p>
                      <a:pPr>
                        <a:defRPr sz="900" b="0">
                          <a:solidFill>
                            <a:srgbClr val="F0F0FF"/>
                          </a:solidFill>
                          <a:latin typeface="Calibri"/>
                        </a:defRPr>
                      </a:pPr>
                      <a:r>
                        <a:t>—</a:t>
                      </a:r>
                    </a:p>
                  </a:txBody>
                  <a:tcPr anchor="t" marL="64008" marR="64008" marT="27432" marB="27432">
                    <a:solidFill>
                      <a:srgbClr val="161630"/>
                    </a:solidFill>
                  </a:tcPr>
                </a:tc>
                <a:tc>
                  <a:txBody>
                    <a:bodyPr/>
                    <a:lstStyle/>
                    <a:p>
                      <a:pPr>
                        <a:defRPr sz="900" b="0">
                          <a:solidFill>
                            <a:srgbClr val="F0F0FF"/>
                          </a:solidFill>
                          <a:latin typeface="Calibri"/>
                        </a:defRPr>
                      </a:pPr>
                      <a:r>
                        <a:t>—</a:t>
                      </a:r>
                    </a:p>
                  </a:txBody>
                  <a:tcPr anchor="t" marL="64008" marR="64008" marT="27432" marB="27432">
                    <a:solidFill>
                      <a:srgbClr val="161630"/>
                    </a:solidFill>
                  </a:tcPr>
                </a:tc>
              </a:tr>
              <a:tr h="427808">
                <a:tc>
                  <a:txBody>
                    <a:bodyPr/>
                    <a:lstStyle/>
                    <a:p>
                      <a:pPr>
                        <a:defRPr sz="900" b="1">
                          <a:solidFill>
                            <a:srgbClr val="AA5CF7"/>
                          </a:solidFill>
                          <a:latin typeface="Calibri"/>
                        </a:defRPr>
                      </a:pPr>
                      <a:r>
                        <a:t>Allergies</a:t>
                      </a:r>
                    </a:p>
                  </a:txBody>
                  <a:tcPr anchor="t" marL="64008" marR="64008" marT="27432" marB="27432">
                    <a:solidFill>
                      <a:srgbClr val="1E1E3A"/>
                    </a:solidFill>
                  </a:tcPr>
                </a:tc>
                <a:tc>
                  <a:txBody>
                    <a:bodyPr/>
                    <a:lstStyle/>
                    <a:p>
                      <a:pPr>
                        <a:defRPr sz="900" b="0">
                          <a:solidFill>
                            <a:srgbClr val="F0F0FF"/>
                          </a:solidFill>
                          <a:latin typeface="Calibri"/>
                        </a:defRPr>
                      </a:pPr>
                      <a:r>
                        <a:t>none</a:t>
                      </a:r>
                    </a:p>
                  </a:txBody>
                  <a:tcPr anchor="t" marL="64008" marR="64008" marT="27432" marB="27432">
                    <a:solidFill>
                      <a:srgbClr val="1E1E3A"/>
                    </a:solidFill>
                  </a:tcPr>
                </a:tc>
                <a:tc>
                  <a:txBody>
                    <a:bodyPr/>
                    <a:lstStyle/>
                    <a:p>
                      <a:pPr>
                        <a:defRPr sz="900" b="0">
                          <a:solidFill>
                            <a:srgbClr val="F0F0FF"/>
                          </a:solidFill>
                          <a:latin typeface="Calibri"/>
                        </a:defRPr>
                      </a:pPr>
                      <a:r>
                        <a:t>No known medication allergies</a:t>
                      </a:r>
                    </a:p>
                  </a:txBody>
                  <a:tcPr anchor="t" marL="64008" marR="64008" marT="27432" marB="27432">
                    <a:solidFill>
                      <a:srgbClr val="1E1E3A"/>
                    </a:solidFill>
                  </a:tcPr>
                </a:tc>
              </a:tr>
              <a:tr h="427808">
                <a:tc>
                  <a:txBody>
                    <a:bodyPr/>
                    <a:lstStyle/>
                    <a:p>
                      <a:pPr>
                        <a:defRPr sz="900" b="1">
                          <a:solidFill>
                            <a:srgbClr val="AA5CF7"/>
                          </a:solidFill>
                          <a:latin typeface="Calibri"/>
                        </a:defRPr>
                      </a:pPr>
                      <a:r>
                        <a:t>Exam Findings</a:t>
                      </a:r>
                    </a:p>
                  </a:txBody>
                  <a:tcPr anchor="t" marL="64008" marR="64008" marT="27432" marB="27432">
                    <a:solidFill>
                      <a:srgbClr val="161630"/>
                    </a:solidFill>
                  </a:tcPr>
                </a:tc>
                <a:tc>
                  <a:txBody>
                    <a:bodyPr/>
                    <a:lstStyle/>
                    <a:p>
                      <a:pPr>
                        <a:defRPr sz="900" b="0">
                          <a:solidFill>
                            <a:srgbClr val="F0F0FF"/>
                          </a:solidFill>
                          <a:latin typeface="Calibri"/>
                        </a:defRPr>
                      </a:pPr>
                      <a:r>
                        <a:t>reported visible neck swelling | patient reports 7-8/10 pain severity</a:t>
                      </a:r>
                    </a:p>
                  </a:txBody>
                  <a:tcPr anchor="t" marL="64008" marR="64008" marT="27432" marB="27432">
                    <a:solidFill>
                      <a:srgbClr val="161630"/>
                    </a:solidFill>
                  </a:tcPr>
                </a:tc>
                <a:tc>
                  <a:txBody>
                    <a:bodyPr/>
                    <a:lstStyle/>
                    <a:p>
                      <a:pPr>
                        <a:defRPr sz="900" b="0">
                          <a:solidFill>
                            <a:srgbClr val="F0F0FF"/>
                          </a:solidFill>
                          <a:latin typeface="Calibri"/>
                        </a:defRPr>
                      </a:pPr>
                      <a:r>
                        <a:t>Patient reports that neck appears mildly swollen</a:t>
                      </a:r>
                    </a:p>
                  </a:txBody>
                  <a:tcPr anchor="t" marL="64008" marR="64008" marT="27432" marB="27432">
                    <a:solidFill>
                      <a:srgbClr val="161630"/>
                    </a:solidFill>
                  </a:tcPr>
                </a:tc>
              </a:tr>
              <a:tr h="427808">
                <a:tc>
                  <a:txBody>
                    <a:bodyPr/>
                    <a:lstStyle/>
                    <a:p>
                      <a:pPr>
                        <a:defRPr sz="900" b="1">
                          <a:solidFill>
                            <a:srgbClr val="AA5CF7"/>
                          </a:solidFill>
                          <a:latin typeface="Calibri"/>
                        </a:defRPr>
                      </a:pPr>
                      <a:r>
                        <a:t>Diagnosis</a:t>
                      </a:r>
                    </a:p>
                  </a:txBody>
                  <a:tcPr anchor="t" marL="64008" marR="64008" marT="27432" marB="27432">
                    <a:solidFill>
                      <a:srgbClr val="1E1E3A"/>
                    </a:solidFill>
                  </a:tcPr>
                </a:tc>
                <a:tc>
                  <a:txBody>
                    <a:bodyPr/>
                    <a:lstStyle/>
                    <a:p>
                      <a:pPr>
                        <a:defRPr sz="900" b="0">
                          <a:solidFill>
                            <a:srgbClr val="F0F0FF"/>
                          </a:solidFill>
                          <a:latin typeface="Calibri"/>
                        </a:defRPr>
                      </a:pPr>
                      <a:r>
                        <a:t>—</a:t>
                      </a:r>
                    </a:p>
                  </a:txBody>
                  <a:tcPr anchor="t" marL="64008" marR="64008" marT="27432" marB="27432">
                    <a:solidFill>
                      <a:srgbClr val="1E1E3A"/>
                    </a:solidFill>
                  </a:tcPr>
                </a:tc>
                <a:tc>
                  <a:txBody>
                    <a:bodyPr/>
                    <a:lstStyle/>
                    <a:p>
                      <a:pPr>
                        <a:defRPr sz="900" b="0">
                          <a:solidFill>
                            <a:srgbClr val="F0F0FF"/>
                          </a:solidFill>
                          <a:latin typeface="Calibri"/>
                        </a:defRPr>
                      </a:pPr>
                      <a:r>
                        <a:t>Acute left-sided chest pain, unspecified etiology</a:t>
                      </a:r>
                    </a:p>
                  </a:txBody>
                  <a:tcPr anchor="t" marL="64008" marR="64008" marT="27432" marB="27432">
                    <a:solidFill>
                      <a:srgbClr val="1E1E3A"/>
                    </a:solidFill>
                  </a:tcPr>
                </a:tc>
              </a:tr>
              <a:tr h="427808">
                <a:tc>
                  <a:txBody>
                    <a:bodyPr/>
                    <a:lstStyle/>
                    <a:p>
                      <a:pPr>
                        <a:defRPr sz="900" b="1">
                          <a:solidFill>
                            <a:srgbClr val="AA5CF7"/>
                          </a:solidFill>
                          <a:latin typeface="Calibri"/>
                        </a:defRPr>
                      </a:pPr>
                      <a:r>
                        <a:t>Diff. Diagnosis</a:t>
                      </a:r>
                    </a:p>
                  </a:txBody>
                  <a:tcPr anchor="t" marL="64008" marR="64008" marT="27432" marB="27432">
                    <a:solidFill>
                      <a:srgbClr val="161630"/>
                    </a:solidFill>
                  </a:tcPr>
                </a:tc>
                <a:tc>
                  <a:txBody>
                    <a:bodyPr/>
                    <a:lstStyle/>
                    <a:p>
                      <a:pPr>
                        <a:defRPr sz="900" b="0">
                          <a:solidFill>
                            <a:srgbClr val="F0F0FF"/>
                          </a:solidFill>
                          <a:latin typeface="Calibri"/>
                        </a:defRPr>
                      </a:pPr>
                      <a:r>
                        <a:t>Myocardial infarction (due to family history and symptoms) | Pericarditis (suggested by positional component) | Pneumothorax | Mus...</a:t>
                      </a:r>
                    </a:p>
                  </a:txBody>
                  <a:tcPr anchor="t" marL="64008" marR="64008" marT="27432" marB="27432">
                    <a:solidFill>
                      <a:srgbClr val="161630"/>
                    </a:solidFill>
                  </a:tcPr>
                </a:tc>
                <a:tc>
                  <a:txBody>
                    <a:bodyPr/>
                    <a:lstStyle/>
                    <a:p>
                      <a:pPr>
                        <a:defRPr sz="900" b="0">
                          <a:solidFill>
                            <a:srgbClr val="F0F0FF"/>
                          </a:solidFill>
                          <a:latin typeface="Calibri"/>
                        </a:defRPr>
                      </a:pPr>
                      <a:r>
                        <a:t>—</a:t>
                      </a:r>
                    </a:p>
                  </a:txBody>
                  <a:tcPr anchor="t" marL="64008" marR="64008" marT="27432" marB="27432">
                    <a:solidFill>
                      <a:srgbClr val="161630"/>
                    </a:solidFill>
                  </a:tcPr>
                </a:tc>
              </a:tr>
              <a:tr h="427808">
                <a:tc>
                  <a:txBody>
                    <a:bodyPr/>
                    <a:lstStyle/>
                    <a:p>
                      <a:pPr>
                        <a:defRPr sz="900" b="1">
                          <a:solidFill>
                            <a:srgbClr val="AA5CF7"/>
                          </a:solidFill>
                          <a:latin typeface="Calibri"/>
                        </a:defRPr>
                      </a:pPr>
                      <a:r>
                        <a:t>Prescribed Meds</a:t>
                      </a:r>
                    </a:p>
                  </a:txBody>
                  <a:tcPr anchor="t" marL="64008" marR="64008" marT="27432" marB="27432">
                    <a:solidFill>
                      <a:srgbClr val="1E1E3A"/>
                    </a:solidFill>
                  </a:tcPr>
                </a:tc>
                <a:tc>
                  <a:txBody>
                    <a:bodyPr/>
                    <a:lstStyle/>
                    <a:p>
                      <a:pPr>
                        <a:defRPr sz="900" b="0">
                          <a:solidFill>
                            <a:srgbClr val="F0F0FF"/>
                          </a:solidFill>
                          <a:latin typeface="Calibri"/>
                        </a:defRPr>
                      </a:pPr>
                      <a:r>
                        <a:t>—</a:t>
                      </a:r>
                    </a:p>
                  </a:txBody>
                  <a:tcPr anchor="t" marL="64008" marR="64008" marT="27432" marB="27432">
                    <a:solidFill>
                      <a:srgbClr val="1E1E3A"/>
                    </a:solidFill>
                  </a:tcPr>
                </a:tc>
                <a:tc>
                  <a:txBody>
                    <a:bodyPr/>
                    <a:lstStyle/>
                    <a:p>
                      <a:pPr>
                        <a:defRPr sz="900" b="0">
                          <a:solidFill>
                            <a:srgbClr val="F0F0FF"/>
                          </a:solidFill>
                          <a:latin typeface="Calibri"/>
                        </a:defRPr>
                      </a:pPr>
                      <a:r>
                        <a:t>—</a:t>
                      </a:r>
                    </a:p>
                  </a:txBody>
                  <a:tcPr anchor="t" marL="64008" marR="64008" marT="27432" marB="27432">
                    <a:solidFill>
                      <a:srgbClr val="1E1E3A"/>
                    </a:solidFill>
                  </a:tcPr>
                </a:tc>
              </a:tr>
              <a:tr h="427808">
                <a:tc>
                  <a:txBody>
                    <a:bodyPr/>
                    <a:lstStyle/>
                    <a:p>
                      <a:pPr>
                        <a:defRPr sz="900" b="1">
                          <a:solidFill>
                            <a:srgbClr val="AA5CF7"/>
                          </a:solidFill>
                          <a:latin typeface="Calibri"/>
                        </a:defRPr>
                      </a:pPr>
                      <a:r>
                        <a:t>Treatment Plan</a:t>
                      </a:r>
                    </a:p>
                  </a:txBody>
                  <a:tcPr anchor="t" marL="64008" marR="64008" marT="27432" marB="27432">
                    <a:solidFill>
                      <a:srgbClr val="161630"/>
                    </a:solidFill>
                  </a:tcPr>
                </a:tc>
                <a:tc>
                  <a:txBody>
                    <a:bodyPr/>
                    <a:lstStyle/>
                    <a:p>
                      <a:pPr>
                        <a:defRPr sz="900" b="0">
                          <a:solidFill>
                            <a:srgbClr val="F0F0FF"/>
                          </a:solidFill>
                          <a:latin typeface="Calibri"/>
                        </a:defRPr>
                      </a:pPr>
                      <a:r>
                        <a:t>—</a:t>
                      </a:r>
                    </a:p>
                  </a:txBody>
                  <a:tcPr anchor="t" marL="64008" marR="64008" marT="27432" marB="27432">
                    <a:solidFill>
                      <a:srgbClr val="161630"/>
                    </a:solidFill>
                  </a:tcPr>
                </a:tc>
                <a:tc>
                  <a:txBody>
                    <a:bodyPr/>
                    <a:lstStyle/>
                    <a:p>
                      <a:pPr>
                        <a:defRPr sz="900" b="0">
                          <a:solidFill>
                            <a:srgbClr val="F0F0FF"/>
                          </a:solidFill>
                          <a:latin typeface="Calibri"/>
                        </a:defRPr>
                      </a:pPr>
                      <a:r>
                        <a:t>—</a:t>
                      </a:r>
                    </a:p>
                  </a:txBody>
                  <a:tcPr anchor="t" marL="64008" marR="64008" marT="27432" marB="27432">
                    <a:solidFill>
                      <a:srgbClr val="161630"/>
                    </a:solidFill>
                  </a:tcPr>
                </a:tc>
              </a:tr>
              <a:tr h="427808">
                <a:tc>
                  <a:txBody>
                    <a:bodyPr/>
                    <a:lstStyle/>
                    <a:p>
                      <a:pPr>
                        <a:defRPr sz="900" b="1">
                          <a:solidFill>
                            <a:srgbClr val="AA5CF7"/>
                          </a:solidFill>
                          <a:latin typeface="Calibri"/>
                        </a:defRPr>
                      </a:pPr>
                      <a:r>
                        <a:t>Investigations</a:t>
                      </a:r>
                    </a:p>
                  </a:txBody>
                  <a:tcPr anchor="t" marL="64008" marR="64008" marT="27432" marB="27432">
                    <a:solidFill>
                      <a:srgbClr val="1E1E3A"/>
                    </a:solidFill>
                  </a:tcPr>
                </a:tc>
                <a:tc>
                  <a:txBody>
                    <a:bodyPr/>
                    <a:lstStyle/>
                    <a:p>
                      <a:pPr>
                        <a:defRPr sz="900" b="0">
                          <a:solidFill>
                            <a:srgbClr val="F0F0FF"/>
                          </a:solidFill>
                          <a:latin typeface="Calibri"/>
                        </a:defRPr>
                      </a:pPr>
                      <a:r>
                        <a:t>—</a:t>
                      </a:r>
                    </a:p>
                  </a:txBody>
                  <a:tcPr anchor="t" marL="64008" marR="64008" marT="27432" marB="27432">
                    <a:solidFill>
                      <a:srgbClr val="1E1E3A"/>
                    </a:solidFill>
                  </a:tcPr>
                </a:tc>
                <a:tc>
                  <a:txBody>
                    <a:bodyPr/>
                    <a:lstStyle/>
                    <a:p>
                      <a:pPr>
                        <a:defRPr sz="900" b="0">
                          <a:solidFill>
                            <a:srgbClr val="F0F0FF"/>
                          </a:solidFill>
                          <a:latin typeface="Calibri"/>
                        </a:defRPr>
                      </a:pPr>
                      <a:r>
                        <a:t>—</a:t>
                      </a:r>
                    </a:p>
                  </a:txBody>
                  <a:tcPr anchor="t" marL="64008" marR="64008" marT="27432" marB="27432">
                    <a:solidFill>
                      <a:srgbClr val="1E1E3A"/>
                    </a:solidFill>
                  </a:tcPr>
                </a:tc>
              </a:tr>
              <a:tr h="427816">
                <a:tc>
                  <a:txBody>
                    <a:bodyPr/>
                    <a:lstStyle/>
                    <a:p>
                      <a:pPr>
                        <a:defRPr sz="900" b="1">
                          <a:solidFill>
                            <a:srgbClr val="AA5CF7"/>
                          </a:solidFill>
                          <a:latin typeface="Calibri"/>
                        </a:defRPr>
                      </a:pPr>
                      <a:r>
                        <a:t>Follow Up</a:t>
                      </a:r>
                    </a:p>
                  </a:txBody>
                  <a:tcPr anchor="t" marL="64008" marR="64008" marT="27432" marB="27432">
                    <a:solidFill>
                      <a:srgbClr val="161630"/>
                    </a:solidFill>
                  </a:tcPr>
                </a:tc>
                <a:tc>
                  <a:txBody>
                    <a:bodyPr/>
                    <a:lstStyle/>
                    <a:p>
                      <a:pPr>
                        <a:defRPr sz="900" b="0">
                          <a:solidFill>
                            <a:srgbClr val="F0F0FF"/>
                          </a:solidFill>
                          <a:latin typeface="Calibri"/>
                        </a:defRPr>
                      </a:pPr>
                      <a:r>
                        <a:t>—</a:t>
                      </a:r>
                    </a:p>
                  </a:txBody>
                  <a:tcPr anchor="t" marL="64008" marR="64008" marT="27432" marB="27432">
                    <a:solidFill>
                      <a:srgbClr val="161630"/>
                    </a:solidFill>
                  </a:tcPr>
                </a:tc>
                <a:tc>
                  <a:txBody>
                    <a:bodyPr/>
                    <a:lstStyle/>
                    <a:p>
                      <a:pPr>
                        <a:defRPr sz="900" b="0">
                          <a:solidFill>
                            <a:srgbClr val="F0F0FF"/>
                          </a:solidFill>
                          <a:latin typeface="Calibri"/>
                        </a:defRPr>
                      </a:pPr>
                      <a:r>
                        <a:t>—</a:t>
                      </a:r>
                    </a:p>
                  </a:txBody>
                  <a:tcPr anchor="t" marL="64008" marR="64008" marT="27432" marB="27432">
                    <a:solidFill>
                      <a:srgbClr val="161630"/>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AA5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914400"/>
            <a:ext cx="10332720" cy="685800"/>
          </a:xfrm>
          <a:prstGeom prst="rect">
            <a:avLst/>
          </a:prstGeom>
          <a:noFill/>
        </p:spPr>
        <p:txBody>
          <a:bodyPr wrap="square">
            <a:spAutoFit/>
          </a:bodyPr>
          <a:lstStyle/>
          <a:p>
            <a:pPr algn="ctr">
              <a:defRPr sz="4200" b="1">
                <a:solidFill>
                  <a:srgbClr val="AA5CF7"/>
                </a:solidFill>
                <a:latin typeface="Calibri"/>
              </a:defRPr>
            </a:pPr>
            <a:r>
              <a:t>Case Study: MSK0005</a:t>
            </a:r>
          </a:p>
        </p:txBody>
      </p:sp>
      <p:sp>
        <p:nvSpPr>
          <p:cNvPr id="4" name="TextBox 3"/>
          <p:cNvSpPr txBox="1"/>
          <p:nvPr/>
        </p:nvSpPr>
        <p:spPr>
          <a:xfrm>
            <a:off x="914400" y="1691640"/>
            <a:ext cx="10332720" cy="457200"/>
          </a:xfrm>
          <a:prstGeom prst="rect">
            <a:avLst/>
          </a:prstGeom>
          <a:noFill/>
        </p:spPr>
        <p:txBody>
          <a:bodyPr wrap="square">
            <a:spAutoFit/>
          </a:bodyPr>
          <a:lstStyle/>
          <a:p>
            <a:pPr algn="ctr">
              <a:defRPr sz="2200" b="0">
                <a:solidFill>
                  <a:srgbClr val="F0F0FF"/>
                </a:solidFill>
                <a:latin typeface="Calibri"/>
              </a:defRPr>
            </a:pPr>
            <a:r>
              <a:t>Musculoskeletal — Elbow Pain</a:t>
            </a:r>
          </a:p>
        </p:txBody>
      </p:sp>
      <p:sp>
        <p:nvSpPr>
          <p:cNvPr id="5" name="TextBox 4"/>
          <p:cNvSpPr txBox="1"/>
          <p:nvPr/>
        </p:nvSpPr>
        <p:spPr>
          <a:xfrm>
            <a:off x="914400" y="2240280"/>
            <a:ext cx="10332720" cy="365760"/>
          </a:xfrm>
          <a:prstGeom prst="rect">
            <a:avLst/>
          </a:prstGeom>
          <a:noFill/>
        </p:spPr>
        <p:txBody>
          <a:bodyPr wrap="square">
            <a:spAutoFit/>
          </a:bodyPr>
          <a:lstStyle/>
          <a:p>
            <a:pPr algn="ctr">
              <a:defRPr sz="1600" b="0">
                <a:solidFill>
                  <a:srgbClr val="8888AA"/>
                </a:solidFill>
                <a:latin typeface="Calibri"/>
              </a:defRPr>
            </a:pPr>
            <a:r>
              <a:t>SOAP Extraction Analysis  ·  GPT-5.6 Terra</a:t>
            </a:r>
          </a:p>
        </p:txBody>
      </p:sp>
      <p:sp>
        <p:nvSpPr>
          <p:cNvPr id="6" name="Rounded Rectangle 5"/>
          <p:cNvSpPr/>
          <p:nvPr/>
        </p:nvSpPr>
        <p:spPr>
          <a:xfrm>
            <a:off x="1097280" y="3017520"/>
            <a:ext cx="2286000" cy="777240"/>
          </a:xfrm>
          <a:prstGeom prst="roundRect">
            <a:avLst>
              <a:gd name="adj" fmla="val 4000"/>
            </a:avLst>
          </a:prstGeom>
          <a:solidFill>
            <a:srgbClr val="14142E"/>
          </a:solidFill>
          <a:ln w="9525">
            <a:solidFill>
              <a:srgbClr val="282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3090672"/>
            <a:ext cx="2286000" cy="320040"/>
          </a:xfrm>
          <a:prstGeom prst="rect">
            <a:avLst/>
          </a:prstGeom>
          <a:noFill/>
        </p:spPr>
        <p:txBody>
          <a:bodyPr wrap="square">
            <a:spAutoFit/>
          </a:bodyPr>
          <a:lstStyle/>
          <a:p>
            <a:pPr algn="ctr">
              <a:defRPr sz="1100" b="0">
                <a:solidFill>
                  <a:srgbClr val="8888AA"/>
                </a:solidFill>
                <a:latin typeface="Calibri"/>
              </a:defRPr>
            </a:pPr>
            <a:r>
              <a:t>Clinical Fidelity</a:t>
            </a:r>
          </a:p>
        </p:txBody>
      </p:sp>
      <p:sp>
        <p:nvSpPr>
          <p:cNvPr id="8" name="TextBox 7"/>
          <p:cNvSpPr txBox="1"/>
          <p:nvPr/>
        </p:nvSpPr>
        <p:spPr>
          <a:xfrm>
            <a:off x="1097280" y="3401568"/>
            <a:ext cx="2286000" cy="384048"/>
          </a:xfrm>
          <a:prstGeom prst="rect">
            <a:avLst/>
          </a:prstGeom>
          <a:noFill/>
        </p:spPr>
        <p:txBody>
          <a:bodyPr wrap="square">
            <a:spAutoFit/>
          </a:bodyPr>
          <a:lstStyle/>
          <a:p>
            <a:pPr algn="ctr">
              <a:defRPr sz="2400" b="1">
                <a:solidFill>
                  <a:srgbClr val="AA5CF7"/>
                </a:solidFill>
                <a:latin typeface="Calibri"/>
              </a:defRPr>
            </a:pPr>
            <a:r>
              <a:t>98%</a:t>
            </a:r>
          </a:p>
        </p:txBody>
      </p:sp>
      <p:sp>
        <p:nvSpPr>
          <p:cNvPr id="9" name="Rounded Rectangle 8"/>
          <p:cNvSpPr/>
          <p:nvPr/>
        </p:nvSpPr>
        <p:spPr>
          <a:xfrm>
            <a:off x="3688080" y="3017520"/>
            <a:ext cx="2286000" cy="777240"/>
          </a:xfrm>
          <a:prstGeom prst="roundRect">
            <a:avLst>
              <a:gd name="adj" fmla="val 4000"/>
            </a:avLst>
          </a:prstGeom>
          <a:solidFill>
            <a:srgbClr val="14142E"/>
          </a:solidFill>
          <a:ln w="9525">
            <a:solidFill>
              <a:srgbClr val="282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88080" y="3090672"/>
            <a:ext cx="2286000" cy="320040"/>
          </a:xfrm>
          <a:prstGeom prst="rect">
            <a:avLst/>
          </a:prstGeom>
          <a:noFill/>
        </p:spPr>
        <p:txBody>
          <a:bodyPr wrap="square">
            <a:spAutoFit/>
          </a:bodyPr>
          <a:lstStyle/>
          <a:p>
            <a:pPr algn="ctr">
              <a:defRPr sz="1100" b="0">
                <a:solidFill>
                  <a:srgbClr val="8888AA"/>
                </a:solidFill>
                <a:latin typeface="Calibri"/>
              </a:defRPr>
            </a:pPr>
            <a:r>
              <a:t>Logical Consistency</a:t>
            </a:r>
          </a:p>
        </p:txBody>
      </p:sp>
      <p:sp>
        <p:nvSpPr>
          <p:cNvPr id="11" name="TextBox 10"/>
          <p:cNvSpPr txBox="1"/>
          <p:nvPr/>
        </p:nvSpPr>
        <p:spPr>
          <a:xfrm>
            <a:off x="3688080" y="3401568"/>
            <a:ext cx="2286000" cy="384048"/>
          </a:xfrm>
          <a:prstGeom prst="rect">
            <a:avLst/>
          </a:prstGeom>
          <a:noFill/>
        </p:spPr>
        <p:txBody>
          <a:bodyPr wrap="square">
            <a:spAutoFit/>
          </a:bodyPr>
          <a:lstStyle/>
          <a:p>
            <a:pPr algn="ctr">
              <a:defRPr sz="2400" b="1">
                <a:solidFill>
                  <a:srgbClr val="AA5CF7"/>
                </a:solidFill>
                <a:latin typeface="Calibri"/>
              </a:defRPr>
            </a:pPr>
            <a:r>
              <a:t>100%</a:t>
            </a:r>
          </a:p>
        </p:txBody>
      </p:sp>
      <p:sp>
        <p:nvSpPr>
          <p:cNvPr id="12" name="Rounded Rectangle 11"/>
          <p:cNvSpPr/>
          <p:nvPr/>
        </p:nvSpPr>
        <p:spPr>
          <a:xfrm>
            <a:off x="6278880" y="3017520"/>
            <a:ext cx="2286000" cy="777240"/>
          </a:xfrm>
          <a:prstGeom prst="roundRect">
            <a:avLst>
              <a:gd name="adj" fmla="val 4000"/>
            </a:avLst>
          </a:prstGeom>
          <a:solidFill>
            <a:srgbClr val="14142E"/>
          </a:solidFill>
          <a:ln w="9525">
            <a:solidFill>
              <a:srgbClr val="282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78880" y="3090672"/>
            <a:ext cx="2286000" cy="320040"/>
          </a:xfrm>
          <a:prstGeom prst="rect">
            <a:avLst/>
          </a:prstGeom>
          <a:noFill/>
        </p:spPr>
        <p:txBody>
          <a:bodyPr wrap="square">
            <a:spAutoFit/>
          </a:bodyPr>
          <a:lstStyle/>
          <a:p>
            <a:pPr algn="ctr">
              <a:defRPr sz="1100" b="0">
                <a:solidFill>
                  <a:srgbClr val="8888AA"/>
                </a:solidFill>
                <a:latin typeface="Calibri"/>
              </a:defRPr>
            </a:pPr>
            <a:r>
              <a:t>SOAP Structural Fidelity</a:t>
            </a:r>
          </a:p>
        </p:txBody>
      </p:sp>
      <p:sp>
        <p:nvSpPr>
          <p:cNvPr id="14" name="TextBox 13"/>
          <p:cNvSpPr txBox="1"/>
          <p:nvPr/>
        </p:nvSpPr>
        <p:spPr>
          <a:xfrm>
            <a:off x="6278880" y="3401568"/>
            <a:ext cx="2286000" cy="384048"/>
          </a:xfrm>
          <a:prstGeom prst="rect">
            <a:avLst/>
          </a:prstGeom>
          <a:noFill/>
        </p:spPr>
        <p:txBody>
          <a:bodyPr wrap="square">
            <a:spAutoFit/>
          </a:bodyPr>
          <a:lstStyle/>
          <a:p>
            <a:pPr algn="ctr">
              <a:defRPr sz="2400" b="1">
                <a:solidFill>
                  <a:srgbClr val="AA5CF7"/>
                </a:solidFill>
                <a:latin typeface="Calibri"/>
              </a:defRPr>
            </a:pPr>
            <a:r>
              <a:t>95%</a:t>
            </a:r>
          </a:p>
        </p:txBody>
      </p:sp>
      <p:sp>
        <p:nvSpPr>
          <p:cNvPr id="15" name="Rounded Rectangle 14"/>
          <p:cNvSpPr/>
          <p:nvPr/>
        </p:nvSpPr>
        <p:spPr>
          <a:xfrm>
            <a:off x="8869680" y="3017520"/>
            <a:ext cx="2286000" cy="777240"/>
          </a:xfrm>
          <a:prstGeom prst="roundRect">
            <a:avLst>
              <a:gd name="adj" fmla="val 4000"/>
            </a:avLst>
          </a:prstGeom>
          <a:solidFill>
            <a:srgbClr val="14142E"/>
          </a:solidFill>
          <a:ln w="9525">
            <a:solidFill>
              <a:srgbClr val="282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69680" y="3090672"/>
            <a:ext cx="2286000" cy="320040"/>
          </a:xfrm>
          <a:prstGeom prst="rect">
            <a:avLst/>
          </a:prstGeom>
          <a:noFill/>
        </p:spPr>
        <p:txBody>
          <a:bodyPr wrap="square">
            <a:spAutoFit/>
          </a:bodyPr>
          <a:lstStyle/>
          <a:p>
            <a:pPr algn="ctr">
              <a:defRPr sz="1100" b="0">
                <a:solidFill>
                  <a:srgbClr val="8888AA"/>
                </a:solidFill>
                <a:latin typeface="Calibri"/>
              </a:defRPr>
            </a:pPr>
            <a:r>
              <a:t>Overall Average</a:t>
            </a:r>
          </a:p>
        </p:txBody>
      </p:sp>
      <p:sp>
        <p:nvSpPr>
          <p:cNvPr id="17" name="TextBox 16"/>
          <p:cNvSpPr txBox="1"/>
          <p:nvPr/>
        </p:nvSpPr>
        <p:spPr>
          <a:xfrm>
            <a:off x="8869680" y="3401568"/>
            <a:ext cx="2286000" cy="384048"/>
          </a:xfrm>
          <a:prstGeom prst="rect">
            <a:avLst/>
          </a:prstGeom>
          <a:noFill/>
        </p:spPr>
        <p:txBody>
          <a:bodyPr wrap="square">
            <a:spAutoFit/>
          </a:bodyPr>
          <a:lstStyle/>
          <a:p>
            <a:pPr algn="ctr">
              <a:defRPr sz="2400" b="1">
                <a:solidFill>
                  <a:srgbClr val="FFCC00"/>
                </a:solidFill>
                <a:latin typeface="Calibri"/>
              </a:defRPr>
            </a:pPr>
            <a:r>
              <a:t>97.7%</a:t>
            </a:r>
          </a:p>
        </p:txBody>
      </p:sp>
      <p:sp>
        <p:nvSpPr>
          <p:cNvPr id="18" name="TextBox 17"/>
          <p:cNvSpPr txBox="1"/>
          <p:nvPr/>
        </p:nvSpPr>
        <p:spPr>
          <a:xfrm>
            <a:off x="914400" y="4114800"/>
            <a:ext cx="10332720" cy="320040"/>
          </a:xfrm>
          <a:prstGeom prst="rect">
            <a:avLst/>
          </a:prstGeom>
          <a:noFill/>
        </p:spPr>
        <p:txBody>
          <a:bodyPr wrap="square">
            <a:spAutoFit/>
          </a:bodyPr>
          <a:lstStyle/>
          <a:p>
            <a:pPr algn="ctr">
              <a:defRPr sz="1200" b="0">
                <a:solidFill>
                  <a:srgbClr val="8888AA"/>
                </a:solidFill>
                <a:latin typeface="Calibri"/>
              </a:defRPr>
            </a:pPr>
            <a:r>
              <a:t>Evaluated by gemini-3.5-flash-lite  |  Scale: 0–100%  |  Paper-aligned metrics</a:t>
            </a:r>
          </a:p>
        </p:txBody>
      </p:sp>
      <p:sp>
        <p:nvSpPr>
          <p:cNvPr id="19" name="Rectangle 18"/>
          <p:cNvSpPr/>
          <p:nvPr/>
        </p:nvSpPr>
        <p:spPr>
          <a:xfrm>
            <a:off x="0" y="6675120"/>
            <a:ext cx="12191695" cy="91440"/>
          </a:xfrm>
          <a:prstGeom prst="rect">
            <a:avLst/>
          </a:prstGeom>
          <a:solidFill>
            <a:srgbClr val="AA5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TextBox 1"/>
          <p:cNvSpPr txBox="1"/>
          <p:nvPr/>
        </p:nvSpPr>
        <p:spPr>
          <a:xfrm>
            <a:off x="457200" y="182880"/>
            <a:ext cx="11247120" cy="502920"/>
          </a:xfrm>
          <a:prstGeom prst="rect">
            <a:avLst/>
          </a:prstGeom>
          <a:noFill/>
        </p:spPr>
        <p:txBody>
          <a:bodyPr wrap="square">
            <a:spAutoFit/>
          </a:bodyPr>
          <a:lstStyle/>
          <a:p>
            <a:pPr algn="l">
              <a:defRPr sz="2200" b="1">
                <a:solidFill>
                  <a:srgbClr val="AA5CF7"/>
                </a:solidFill>
                <a:latin typeface="Calibri"/>
              </a:defRPr>
            </a:pPr>
            <a:r>
              <a:t>MSK0005 — Speech-to-Text Transcript Comparison</a:t>
            </a:r>
          </a:p>
        </p:txBody>
      </p:sp>
      <p:sp>
        <p:nvSpPr>
          <p:cNvPr id="3" name="TextBox 2"/>
          <p:cNvSpPr txBox="1"/>
          <p:nvPr/>
        </p:nvSpPr>
        <p:spPr>
          <a:xfrm>
            <a:off x="457200" y="749808"/>
            <a:ext cx="11247120" cy="292608"/>
          </a:xfrm>
          <a:prstGeom prst="rect">
            <a:avLst/>
          </a:prstGeom>
          <a:noFill/>
        </p:spPr>
        <p:txBody>
          <a:bodyPr wrap="square">
            <a:spAutoFit/>
          </a:bodyPr>
          <a:lstStyle/>
          <a:p>
            <a:pPr algn="l">
              <a:defRPr sz="1300" b="0">
                <a:solidFill>
                  <a:srgbClr val="8888AA"/>
                </a:solidFill>
                <a:latin typeface="Calibri"/>
              </a:defRPr>
            </a:pPr>
            <a:r>
              <a:t>Ground Truth dialogue vs GPT-5.6 Terra diarized STT output (first ~100 words)</a:t>
            </a:r>
          </a:p>
        </p:txBody>
      </p:sp>
      <p:sp>
        <p:nvSpPr>
          <p:cNvPr id="4" name="Rounded Rectangle 3"/>
          <p:cNvSpPr/>
          <p:nvPr/>
        </p:nvSpPr>
        <p:spPr>
          <a:xfrm>
            <a:off x="274320" y="1170432"/>
            <a:ext cx="5577840" cy="5349240"/>
          </a:xfrm>
          <a:prstGeom prst="roundRect">
            <a:avLst>
              <a:gd name="adj" fmla="val 4000"/>
            </a:avLst>
          </a:prstGeom>
          <a:solidFill>
            <a:srgbClr val="14142E"/>
          </a:solidFill>
          <a:ln w="9525">
            <a:solidFill>
              <a:srgbClr val="282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335024"/>
            <a:ext cx="3474720" cy="384048"/>
          </a:xfrm>
          <a:prstGeom prst="roundRect">
            <a:avLst>
              <a:gd name="adj" fmla="val 50000"/>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300" b="1">
                <a:solidFill>
                  <a:srgbClr val="0A0A1A"/>
                </a:solidFill>
                <a:latin typeface="Calibri"/>
              </a:defRPr>
            </a:pPr>
            <a:r>
              <a:t>📄  Real Transcript (Ground Truth)</a:t>
            </a:r>
          </a:p>
        </p:txBody>
      </p:sp>
      <p:sp>
        <p:nvSpPr>
          <p:cNvPr id="6" name="TextBox 5"/>
          <p:cNvSpPr txBox="1"/>
          <p:nvPr/>
        </p:nvSpPr>
        <p:spPr>
          <a:xfrm>
            <a:off x="502920" y="1856232"/>
            <a:ext cx="5166360" cy="4434840"/>
          </a:xfrm>
          <a:prstGeom prst="rect">
            <a:avLst/>
          </a:prstGeom>
          <a:noFill/>
        </p:spPr>
        <p:txBody>
          <a:bodyPr wrap="square">
            <a:spAutoFit/>
          </a:bodyPr>
          <a:lstStyle/>
          <a:p>
            <a:pPr algn="l">
              <a:defRPr sz="1300" b="0">
                <a:solidFill>
                  <a:srgbClr val="F0F0FF"/>
                </a:solidFill>
                <a:latin typeface="Calibri"/>
              </a:defRPr>
            </a:pPr>
            <a:r>
              <a:t>D: What brings you in?</a:t>
            </a:r>
            <a:br/>
            <a:r>
              <a:t>P: Hi, I've I've had this pain on the outside of my uh right elbow now it's it I first started knowing, noticing it several months ago, but recently it's just been more painful.</a:t>
            </a:r>
            <a:br/>
            <a:r>
              <a:t>D: OK, so you said several months ago. Um did anything happen several months ago? Was there any sort of trigger, trauma, anything like that to that area?</a:t>
            </a:r>
            <a:br/>
            <a:r>
              <a:t>...</a:t>
            </a:r>
          </a:p>
        </p:txBody>
      </p:sp>
      <p:sp>
        <p:nvSpPr>
          <p:cNvPr id="7" name="Rounded Rectangle 6"/>
          <p:cNvSpPr/>
          <p:nvPr/>
        </p:nvSpPr>
        <p:spPr>
          <a:xfrm>
            <a:off x="6172200" y="1170432"/>
            <a:ext cx="5577840" cy="5349240"/>
          </a:xfrm>
          <a:prstGeom prst="roundRect">
            <a:avLst>
              <a:gd name="adj" fmla="val 4000"/>
            </a:avLst>
          </a:prstGeom>
          <a:solidFill>
            <a:srgbClr val="14142E"/>
          </a:solidFill>
          <a:ln w="9525">
            <a:solidFill>
              <a:srgbClr val="282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00800" y="1335024"/>
            <a:ext cx="3749039" cy="384048"/>
          </a:xfrm>
          <a:prstGeom prst="roundRect">
            <a:avLst>
              <a:gd name="adj" fmla="val 50000"/>
            </a:avLst>
          </a:prstGeom>
          <a:solidFill>
            <a:srgbClr val="AA5CF7"/>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300" b="1">
                <a:solidFill>
                  <a:srgbClr val="F0F0FF"/>
                </a:solidFill>
                <a:latin typeface="Calibri"/>
              </a:defRPr>
            </a:pPr>
            <a:r>
              <a:t>🤖  GPT-5.6 Terra Diarized STT</a:t>
            </a:r>
          </a:p>
        </p:txBody>
      </p:sp>
      <p:sp>
        <p:nvSpPr>
          <p:cNvPr id="9" name="TextBox 8"/>
          <p:cNvSpPr txBox="1"/>
          <p:nvPr/>
        </p:nvSpPr>
        <p:spPr>
          <a:xfrm>
            <a:off x="6400800" y="1856232"/>
            <a:ext cx="5166360" cy="4434840"/>
          </a:xfrm>
          <a:prstGeom prst="rect">
            <a:avLst/>
          </a:prstGeom>
          <a:noFill/>
        </p:spPr>
        <p:txBody>
          <a:bodyPr wrap="square">
            <a:spAutoFit/>
          </a:bodyPr>
          <a:lstStyle/>
          <a:p>
            <a:pPr algn="l">
              <a:defRPr sz="1300" b="0">
                <a:solidFill>
                  <a:srgbClr val="F0F0FF"/>
                </a:solidFill>
                <a:latin typeface="Calibri"/>
              </a:defRPr>
            </a:pPr>
            <a:r>
              <a:t>P: Hi, I've had this pain on the outside of my right elbow now. I first started noticing</a:t>
            </a:r>
            <a:br/>
            <a:r>
              <a:t>P: it several months ago, but recently it's just been more painful.</a:t>
            </a:r>
            <a:br/>
            <a:r>
              <a:t>D: Okay, so you said several months ago. Did anything happen several months ago? Was there</a:t>
            </a:r>
            <a:br/>
            <a:r>
              <a:t>D: any sort of trigger, trauma, anything like that to that area?</a:t>
            </a:r>
            <a:br/>
            <a:r>
              <a:t>P: No, there wasn't any trauma or any triggers that I noticed. I was just feeling it a bit</a:t>
            </a:r>
            <a:br/>
            <a:r>
              <a:t>P: more at the end of work. Yeah, I was just feeling the pain a bit more at the end of</a:t>
            </a:r>
            <a:br/>
            <a:r>
              <a:t>P: work.</a:t>
            </a:r>
            <a:br/>
            <a:r>
              <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TextBox 1"/>
          <p:cNvSpPr txBox="1"/>
          <p:nvPr/>
        </p:nvSpPr>
        <p:spPr>
          <a:xfrm>
            <a:off x="457200" y="182880"/>
            <a:ext cx="11247120" cy="502920"/>
          </a:xfrm>
          <a:prstGeom prst="rect">
            <a:avLst/>
          </a:prstGeom>
          <a:noFill/>
        </p:spPr>
        <p:txBody>
          <a:bodyPr wrap="square">
            <a:spAutoFit/>
          </a:bodyPr>
          <a:lstStyle/>
          <a:p>
            <a:pPr algn="l">
              <a:defRPr sz="2200" b="1">
                <a:solidFill>
                  <a:srgbClr val="AA5CF7"/>
                </a:solidFill>
                <a:latin typeface="Calibri"/>
              </a:defRPr>
            </a:pPr>
            <a:r>
              <a:t>MSK0005 — Clinical Summary Comparison</a:t>
            </a:r>
          </a:p>
        </p:txBody>
      </p:sp>
      <p:sp>
        <p:nvSpPr>
          <p:cNvPr id="3" name="TextBox 2"/>
          <p:cNvSpPr txBox="1"/>
          <p:nvPr/>
        </p:nvSpPr>
        <p:spPr>
          <a:xfrm>
            <a:off x="457200" y="749808"/>
            <a:ext cx="11247120" cy="292608"/>
          </a:xfrm>
          <a:prstGeom prst="rect">
            <a:avLst/>
          </a:prstGeom>
          <a:noFill/>
        </p:spPr>
        <p:txBody>
          <a:bodyPr wrap="square">
            <a:spAutoFit/>
          </a:bodyPr>
          <a:lstStyle/>
          <a:p>
            <a:pPr algn="l">
              <a:defRPr sz="1300" b="0">
                <a:solidFill>
                  <a:srgbClr val="8888AA"/>
                </a:solidFill>
                <a:latin typeface="Calibri"/>
              </a:defRPr>
            </a:pPr>
            <a:r>
              <a:t>AI-extracted clinical summary: Ground Truth vs GPT-5.6 Terra (first ~100 words)</a:t>
            </a:r>
          </a:p>
        </p:txBody>
      </p:sp>
      <p:sp>
        <p:nvSpPr>
          <p:cNvPr id="4" name="Rounded Rectangle 3"/>
          <p:cNvSpPr/>
          <p:nvPr/>
        </p:nvSpPr>
        <p:spPr>
          <a:xfrm>
            <a:off x="274320" y="1170432"/>
            <a:ext cx="5577840" cy="5349240"/>
          </a:xfrm>
          <a:prstGeom prst="roundRect">
            <a:avLst>
              <a:gd name="adj" fmla="val 4000"/>
            </a:avLst>
          </a:prstGeom>
          <a:solidFill>
            <a:srgbClr val="14142E"/>
          </a:solidFill>
          <a:ln w="9525">
            <a:solidFill>
              <a:srgbClr val="282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335024"/>
            <a:ext cx="3291840" cy="384048"/>
          </a:xfrm>
          <a:prstGeom prst="roundRect">
            <a:avLst>
              <a:gd name="adj" fmla="val 50000"/>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300" b="1">
                <a:solidFill>
                  <a:srgbClr val="0A0A1A"/>
                </a:solidFill>
                <a:latin typeface="Calibri"/>
              </a:defRPr>
            </a:pPr>
            <a:r>
              <a:t>📄  Ground Truth Summary</a:t>
            </a:r>
          </a:p>
        </p:txBody>
      </p:sp>
      <p:sp>
        <p:nvSpPr>
          <p:cNvPr id="6" name="TextBox 5"/>
          <p:cNvSpPr txBox="1"/>
          <p:nvPr/>
        </p:nvSpPr>
        <p:spPr>
          <a:xfrm>
            <a:off x="502920" y="1856232"/>
            <a:ext cx="5166360" cy="4434840"/>
          </a:xfrm>
          <a:prstGeom prst="rect">
            <a:avLst/>
          </a:prstGeom>
          <a:noFill/>
        </p:spPr>
        <p:txBody>
          <a:bodyPr wrap="square">
            <a:spAutoFit/>
          </a:bodyPr>
          <a:lstStyle/>
          <a:p>
            <a:pPr algn="l">
              <a:defRPr sz="1300" b="0">
                <a:solidFill>
                  <a:srgbClr val="F0F0FF"/>
                </a:solidFill>
                <a:latin typeface="Calibri"/>
              </a:defRPr>
            </a:pPr>
            <a:r>
              <a:t>The patient is a healthy adult presenting with persistent right lateral elbow pain for several months, worsening with repetitive wrist movements at work. Examination findings are consistent with lateral epicondylitis, evidenced by pain on palpation of the lateral epicondyle and pain with resisted wrist extension and flexion. The patient was advised on activity modification, use of compression sleeves, continued over-the-counter analgesics, and physical therapy for recovery.</a:t>
            </a:r>
          </a:p>
        </p:txBody>
      </p:sp>
      <p:sp>
        <p:nvSpPr>
          <p:cNvPr id="7" name="Rounded Rectangle 6"/>
          <p:cNvSpPr/>
          <p:nvPr/>
        </p:nvSpPr>
        <p:spPr>
          <a:xfrm>
            <a:off x="6172200" y="1170432"/>
            <a:ext cx="5577840" cy="5349240"/>
          </a:xfrm>
          <a:prstGeom prst="roundRect">
            <a:avLst>
              <a:gd name="adj" fmla="val 4000"/>
            </a:avLst>
          </a:prstGeom>
          <a:solidFill>
            <a:srgbClr val="14142E"/>
          </a:solidFill>
          <a:ln w="9525">
            <a:solidFill>
              <a:srgbClr val="282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00800" y="1335024"/>
            <a:ext cx="3474720" cy="384048"/>
          </a:xfrm>
          <a:prstGeom prst="roundRect">
            <a:avLst>
              <a:gd name="adj" fmla="val 50000"/>
            </a:avLst>
          </a:prstGeom>
          <a:solidFill>
            <a:srgbClr val="AA5CF7"/>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300" b="1">
                <a:solidFill>
                  <a:srgbClr val="F0F0FF"/>
                </a:solidFill>
                <a:latin typeface="Calibri"/>
              </a:defRPr>
            </a:pPr>
            <a:r>
              <a:t>🤖  GPT-5.6 Terra Summary</a:t>
            </a:r>
          </a:p>
        </p:txBody>
      </p:sp>
      <p:sp>
        <p:nvSpPr>
          <p:cNvPr id="9" name="TextBox 8"/>
          <p:cNvSpPr txBox="1"/>
          <p:nvPr/>
        </p:nvSpPr>
        <p:spPr>
          <a:xfrm>
            <a:off x="6400800" y="1856232"/>
            <a:ext cx="5166360" cy="4434840"/>
          </a:xfrm>
          <a:prstGeom prst="rect">
            <a:avLst/>
          </a:prstGeom>
          <a:noFill/>
        </p:spPr>
        <p:txBody>
          <a:bodyPr wrap="square">
            <a:spAutoFit/>
          </a:bodyPr>
          <a:lstStyle/>
          <a:p>
            <a:pPr algn="l">
              <a:defRPr sz="1300" b="0">
                <a:solidFill>
                  <a:srgbClr val="F0F0FF"/>
                </a:solidFill>
                <a:latin typeface="Calibri"/>
              </a:defRPr>
            </a:pPr>
            <a:r>
              <a:t>Patient reports progressively worsening, localized right lateral elbow pain for several months, associated with repetitive line work and aggravated by wrist movement and lifting. Findings are consistent with lateral epicondylitis (tennis elbow), with preserved range of motion and no trauma, neurologic symptoms, inflammatory signs, or systemic symptoms.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TextBox 1"/>
          <p:cNvSpPr txBox="1"/>
          <p:nvPr/>
        </p:nvSpPr>
        <p:spPr>
          <a:xfrm>
            <a:off x="365760" y="137160"/>
            <a:ext cx="11430000" cy="457200"/>
          </a:xfrm>
          <a:prstGeom prst="rect">
            <a:avLst/>
          </a:prstGeom>
          <a:noFill/>
        </p:spPr>
        <p:txBody>
          <a:bodyPr wrap="square">
            <a:spAutoFit/>
          </a:bodyPr>
          <a:lstStyle/>
          <a:p>
            <a:pPr algn="l">
              <a:defRPr sz="2000" b="1">
                <a:solidFill>
                  <a:srgbClr val="AA5CF7"/>
                </a:solidFill>
                <a:latin typeface="Calibri"/>
              </a:defRPr>
            </a:pPr>
            <a:r>
              <a:t>MSK0005 — Structured SOAP Report Comparison</a:t>
            </a:r>
          </a:p>
        </p:txBody>
      </p:sp>
      <p:graphicFrame>
        <p:nvGraphicFramePr>
          <p:cNvPr id="3" name="Table 2"/>
          <p:cNvGraphicFramePr>
            <a:graphicFrameLocks noGrp="1"/>
          </p:cNvGraphicFramePr>
          <p:nvPr/>
        </p:nvGraphicFramePr>
        <p:xfrm>
          <a:off x="274320" y="713232"/>
          <a:ext cx="11612880" cy="5989320"/>
        </p:xfrm>
        <a:graphic>
          <a:graphicData uri="http://schemas.openxmlformats.org/drawingml/2006/table">
            <a:tbl>
              <a:tblPr firstRow="1" bandRow="1">
                <a:tableStyleId>{5C22544A-7EE6-4342-B048-85BDC9FD1C3A}</a:tableStyleId>
              </a:tblPr>
              <a:tblGrid>
                <a:gridCol w="1691640"/>
                <a:gridCol w="4965192"/>
                <a:gridCol w="4956048"/>
              </a:tblGrid>
              <a:tr h="427808">
                <a:tc>
                  <a:txBody>
                    <a:bodyPr/>
                    <a:lstStyle/>
                    <a:p>
                      <a:pPr algn="ctr">
                        <a:defRPr sz="1100" b="1">
                          <a:solidFill>
                            <a:srgbClr val="AA5CF7"/>
                          </a:solidFill>
                          <a:latin typeface="Calibri"/>
                        </a:defRPr>
                      </a:pPr>
                      <a:r>
                        <a:t>SOAP Field</a:t>
                      </a:r>
                    </a:p>
                  </a:txBody>
                  <a:tcPr anchor="ctr">
                    <a:solidFill>
                      <a:srgbClr val="1E1E40"/>
                    </a:solidFill>
                  </a:tcPr>
                </a:tc>
                <a:tc>
                  <a:txBody>
                    <a:bodyPr/>
                    <a:lstStyle/>
                    <a:p>
                      <a:pPr algn="ctr">
                        <a:defRPr sz="1100" b="1">
                          <a:solidFill>
                            <a:srgbClr val="00E596"/>
                          </a:solidFill>
                          <a:latin typeface="Calibri"/>
                        </a:defRPr>
                      </a:pPr>
                      <a:r>
                        <a:t>Ground Truth</a:t>
                      </a:r>
                    </a:p>
                  </a:txBody>
                  <a:tcPr anchor="ctr">
                    <a:solidFill>
                      <a:srgbClr val="1E1E40"/>
                    </a:solidFill>
                  </a:tcPr>
                </a:tc>
                <a:tc>
                  <a:txBody>
                    <a:bodyPr/>
                    <a:lstStyle/>
                    <a:p>
                      <a:pPr algn="ctr">
                        <a:defRPr sz="1100" b="1">
                          <a:solidFill>
                            <a:srgbClr val="AA5CF7"/>
                          </a:solidFill>
                          <a:latin typeface="Calibri"/>
                        </a:defRPr>
                      </a:pPr>
                      <a:r>
                        <a:t>Predicted (GPT-5.6 Terra)</a:t>
                      </a:r>
                    </a:p>
                  </a:txBody>
                  <a:tcPr anchor="ctr">
                    <a:solidFill>
                      <a:srgbClr val="1E1E40"/>
                    </a:solidFill>
                  </a:tcPr>
                </a:tc>
              </a:tr>
              <a:tr h="427808">
                <a:tc>
                  <a:txBody>
                    <a:bodyPr/>
                    <a:lstStyle/>
                    <a:p>
                      <a:pPr>
                        <a:defRPr sz="900" b="1">
                          <a:solidFill>
                            <a:srgbClr val="AA5CF7"/>
                          </a:solidFill>
                          <a:latin typeface="Calibri"/>
                        </a:defRPr>
                      </a:pPr>
                      <a:r>
                        <a:t>Chief Complaint</a:t>
                      </a:r>
                    </a:p>
                  </a:txBody>
                  <a:tcPr anchor="t" marL="64008" marR="64008" marT="27432" marB="27432">
                    <a:solidFill>
                      <a:srgbClr val="161630"/>
                    </a:solidFill>
                  </a:tcPr>
                </a:tc>
                <a:tc>
                  <a:txBody>
                    <a:bodyPr/>
                    <a:lstStyle/>
                    <a:p>
                      <a:pPr>
                        <a:defRPr sz="900" b="0">
                          <a:solidFill>
                            <a:srgbClr val="F0F0FF"/>
                          </a:solidFill>
                          <a:latin typeface="Calibri"/>
                        </a:defRPr>
                      </a:pPr>
                      <a:r>
                        <a:t>Right elbow pain</a:t>
                      </a:r>
                    </a:p>
                  </a:txBody>
                  <a:tcPr anchor="t" marL="64008" marR="64008" marT="27432" marB="27432">
                    <a:solidFill>
                      <a:srgbClr val="161630"/>
                    </a:solidFill>
                  </a:tcPr>
                </a:tc>
                <a:tc>
                  <a:txBody>
                    <a:bodyPr/>
                    <a:lstStyle/>
                    <a:p>
                      <a:pPr>
                        <a:defRPr sz="900" b="0">
                          <a:solidFill>
                            <a:srgbClr val="F0F0FF"/>
                          </a:solidFill>
                          <a:latin typeface="Calibri"/>
                        </a:defRPr>
                      </a:pPr>
                      <a:r>
                        <a:t>Pain on the outside of the right elbow.</a:t>
                      </a:r>
                    </a:p>
                  </a:txBody>
                  <a:tcPr anchor="t" marL="64008" marR="64008" marT="27432" marB="27432">
                    <a:solidFill>
                      <a:srgbClr val="161630"/>
                    </a:solidFill>
                  </a:tcPr>
                </a:tc>
              </a:tr>
              <a:tr h="427808">
                <a:tc>
                  <a:txBody>
                    <a:bodyPr/>
                    <a:lstStyle/>
                    <a:p>
                      <a:pPr>
                        <a:defRPr sz="900" b="1">
                          <a:solidFill>
                            <a:srgbClr val="AA5CF7"/>
                          </a:solidFill>
                          <a:latin typeface="Calibri"/>
                        </a:defRPr>
                      </a:pPr>
                      <a:r>
                        <a:t>Symptoms</a:t>
                      </a:r>
                    </a:p>
                  </a:txBody>
                  <a:tcPr anchor="t" marL="64008" marR="64008" marT="27432" marB="27432">
                    <a:solidFill>
                      <a:srgbClr val="1E1E3A"/>
                    </a:solidFill>
                  </a:tcPr>
                </a:tc>
                <a:tc>
                  <a:txBody>
                    <a:bodyPr/>
                    <a:lstStyle/>
                    <a:p>
                      <a:pPr>
                        <a:defRPr sz="900" b="0">
                          <a:solidFill>
                            <a:srgbClr val="F0F0FF"/>
                          </a:solidFill>
                          <a:latin typeface="Calibri"/>
                        </a:defRPr>
                      </a:pPr>
                      <a:r>
                        <a:t>pain on the outside of the right elbow | pain worse with wrist bending | pain with lifting heavy objects | aching pain | sharp pai...</a:t>
                      </a:r>
                    </a:p>
                  </a:txBody>
                  <a:tcPr anchor="t" marL="64008" marR="64008" marT="27432" marB="27432">
                    <a:solidFill>
                      <a:srgbClr val="1E1E3A"/>
                    </a:solidFill>
                  </a:tcPr>
                </a:tc>
                <a:tc>
                  <a:txBody>
                    <a:bodyPr/>
                    <a:lstStyle/>
                    <a:p>
                      <a:pPr>
                        <a:defRPr sz="900" b="0">
                          <a:solidFill>
                            <a:srgbClr val="F0F0FF"/>
                          </a:solidFill>
                          <a:latin typeface="Calibri"/>
                        </a:defRPr>
                      </a:pPr>
                      <a:r>
                        <a:t>Localized right lateral elbow pain for several months, recently worsening | Pain is worse at the end of work | Achy pain with inte...</a:t>
                      </a:r>
                    </a:p>
                  </a:txBody>
                  <a:tcPr anchor="t" marL="64008" marR="64008" marT="27432" marB="27432">
                    <a:solidFill>
                      <a:srgbClr val="1E1E3A"/>
                    </a:solidFill>
                  </a:tcPr>
                </a:tc>
              </a:tr>
              <a:tr h="427808">
                <a:tc>
                  <a:txBody>
                    <a:bodyPr/>
                    <a:lstStyle/>
                    <a:p>
                      <a:pPr>
                        <a:defRPr sz="900" b="1">
                          <a:solidFill>
                            <a:srgbClr val="AA5CF7"/>
                          </a:solidFill>
                          <a:latin typeface="Calibri"/>
                        </a:defRPr>
                      </a:pPr>
                      <a:r>
                        <a:t>Symptom Onset</a:t>
                      </a:r>
                    </a:p>
                  </a:txBody>
                  <a:tcPr anchor="t" marL="64008" marR="64008" marT="27432" marB="27432">
                    <a:solidFill>
                      <a:srgbClr val="161630"/>
                    </a:solidFill>
                  </a:tcPr>
                </a:tc>
                <a:tc>
                  <a:txBody>
                    <a:bodyPr/>
                    <a:lstStyle/>
                    <a:p>
                      <a:pPr>
                        <a:defRPr sz="900" b="0">
                          <a:solidFill>
                            <a:srgbClr val="F0F0FF"/>
                          </a:solidFill>
                          <a:latin typeface="Calibri"/>
                        </a:defRPr>
                      </a:pPr>
                      <a:r>
                        <a:t>Several months ago</a:t>
                      </a:r>
                    </a:p>
                  </a:txBody>
                  <a:tcPr anchor="t" marL="64008" marR="64008" marT="27432" marB="27432">
                    <a:solidFill>
                      <a:srgbClr val="161630"/>
                    </a:solidFill>
                  </a:tcPr>
                </a:tc>
                <a:tc>
                  <a:txBody>
                    <a:bodyPr/>
                    <a:lstStyle/>
                    <a:p>
                      <a:pPr>
                        <a:defRPr sz="900" b="0">
                          <a:solidFill>
                            <a:srgbClr val="F0F0FF"/>
                          </a:solidFill>
                          <a:latin typeface="Calibri"/>
                        </a:defRPr>
                      </a:pPr>
                      <a:r>
                        <a:t>Several months ago; no identified trauma or trigger. Pain has progressively worsened over the past several months.</a:t>
                      </a:r>
                    </a:p>
                  </a:txBody>
                  <a:tcPr anchor="t" marL="64008" marR="64008" marT="27432" marB="27432">
                    <a:solidFill>
                      <a:srgbClr val="161630"/>
                    </a:solidFill>
                  </a:tcPr>
                </a:tc>
              </a:tr>
              <a:tr h="427808">
                <a:tc>
                  <a:txBody>
                    <a:bodyPr/>
                    <a:lstStyle/>
                    <a:p>
                      <a:pPr>
                        <a:defRPr sz="900" b="1">
                          <a:solidFill>
                            <a:srgbClr val="AA5CF7"/>
                          </a:solidFill>
                          <a:latin typeface="Calibri"/>
                        </a:defRPr>
                      </a:pPr>
                      <a:r>
                        <a:t>Medical History</a:t>
                      </a:r>
                    </a:p>
                  </a:txBody>
                  <a:tcPr anchor="t" marL="64008" marR="64008" marT="27432" marB="27432">
                    <a:solidFill>
                      <a:srgbClr val="1E1E3A"/>
                    </a:solidFill>
                  </a:tcPr>
                </a:tc>
                <a:tc>
                  <a:txBody>
                    <a:bodyPr/>
                    <a:lstStyle/>
                    <a:p>
                      <a:pPr>
                        <a:defRPr sz="900" b="0">
                          <a:solidFill>
                            <a:srgbClr val="F0F0FF"/>
                          </a:solidFill>
                          <a:latin typeface="Calibri"/>
                        </a:defRPr>
                      </a:pPr>
                      <a:r>
                        <a:t>C-section (17 years ago)</a:t>
                      </a:r>
                    </a:p>
                  </a:txBody>
                  <a:tcPr anchor="t" marL="64008" marR="64008" marT="27432" marB="27432">
                    <a:solidFill>
                      <a:srgbClr val="1E1E3A"/>
                    </a:solidFill>
                  </a:tcPr>
                </a:tc>
                <a:tc>
                  <a:txBody>
                    <a:bodyPr/>
                    <a:lstStyle/>
                    <a:p>
                      <a:pPr>
                        <a:defRPr sz="900" b="0">
                          <a:solidFill>
                            <a:srgbClr val="F0F0FF"/>
                          </a:solidFill>
                          <a:latin typeface="Calibri"/>
                        </a:defRPr>
                      </a:pPr>
                      <a:r>
                        <a:t>Otherwise healthy; no longstanding medical conditions reported | Cesarean section for son approximately 17 years ago; not an emerg...</a:t>
                      </a:r>
                    </a:p>
                  </a:txBody>
                  <a:tcPr anchor="t" marL="64008" marR="64008" marT="27432" marB="27432">
                    <a:solidFill>
                      <a:srgbClr val="1E1E3A"/>
                    </a:solidFill>
                  </a:tcPr>
                </a:tc>
              </a:tr>
              <a:tr h="427808">
                <a:tc>
                  <a:txBody>
                    <a:bodyPr/>
                    <a:lstStyle/>
                    <a:p>
                      <a:pPr>
                        <a:defRPr sz="900" b="1">
                          <a:solidFill>
                            <a:srgbClr val="AA5CF7"/>
                          </a:solidFill>
                          <a:latin typeface="Calibri"/>
                        </a:defRPr>
                      </a:pPr>
                      <a:r>
                        <a:t>Curr. Medications</a:t>
                      </a:r>
                    </a:p>
                  </a:txBody>
                  <a:tcPr anchor="t" marL="64008" marR="64008" marT="27432" marB="27432">
                    <a:solidFill>
                      <a:srgbClr val="161630"/>
                    </a:solidFill>
                  </a:tcPr>
                </a:tc>
                <a:tc>
                  <a:txBody>
                    <a:bodyPr/>
                    <a:lstStyle/>
                    <a:p>
                      <a:pPr>
                        <a:defRPr sz="900" b="0">
                          <a:solidFill>
                            <a:srgbClr val="F0F0FF"/>
                          </a:solidFill>
                          <a:latin typeface="Calibri"/>
                        </a:defRPr>
                      </a:pPr>
                      <a:r>
                        <a:t>Tylenol | Advil</a:t>
                      </a:r>
                    </a:p>
                  </a:txBody>
                  <a:tcPr anchor="t" marL="64008" marR="64008" marT="27432" marB="27432">
                    <a:solidFill>
                      <a:srgbClr val="161630"/>
                    </a:solidFill>
                  </a:tcPr>
                </a:tc>
                <a:tc>
                  <a:txBody>
                    <a:bodyPr/>
                    <a:lstStyle/>
                    <a:p>
                      <a:pPr>
                        <a:defRPr sz="900" b="0">
                          <a:solidFill>
                            <a:srgbClr val="F0F0FF"/>
                          </a:solidFill>
                          <a:latin typeface="Calibri"/>
                        </a:defRPr>
                      </a:pPr>
                      <a:r>
                        <a:t>Acetaminophen (Tylenol) as needed for pain | Ibuprofen (Advil) as needed for pain | Over-the-counter topical pain ointment, unspec...</a:t>
                      </a:r>
                    </a:p>
                  </a:txBody>
                  <a:tcPr anchor="t" marL="64008" marR="64008" marT="27432" marB="27432">
                    <a:solidFill>
                      <a:srgbClr val="161630"/>
                    </a:solidFill>
                  </a:tcPr>
                </a:tc>
              </a:tr>
              <a:tr h="427808">
                <a:tc>
                  <a:txBody>
                    <a:bodyPr/>
                    <a:lstStyle/>
                    <a:p>
                      <a:pPr>
                        <a:defRPr sz="900" b="1">
                          <a:solidFill>
                            <a:srgbClr val="AA5CF7"/>
                          </a:solidFill>
                          <a:latin typeface="Calibri"/>
                        </a:defRPr>
                      </a:pPr>
                      <a:r>
                        <a:t>Allergies</a:t>
                      </a:r>
                    </a:p>
                  </a:txBody>
                  <a:tcPr anchor="t" marL="64008" marR="64008" marT="27432" marB="27432">
                    <a:solidFill>
                      <a:srgbClr val="1E1E3A"/>
                    </a:solidFill>
                  </a:tcPr>
                </a:tc>
                <a:tc>
                  <a:txBody>
                    <a:bodyPr/>
                    <a:lstStyle/>
                    <a:p>
                      <a:pPr>
                        <a:defRPr sz="900" b="0">
                          <a:solidFill>
                            <a:srgbClr val="F0F0FF"/>
                          </a:solidFill>
                          <a:latin typeface="Calibri"/>
                        </a:defRPr>
                      </a:pPr>
                      <a:r>
                        <a:t>No known allergies</a:t>
                      </a:r>
                    </a:p>
                  </a:txBody>
                  <a:tcPr anchor="t" marL="64008" marR="64008" marT="27432" marB="27432">
                    <a:solidFill>
                      <a:srgbClr val="1E1E3A"/>
                    </a:solidFill>
                  </a:tcPr>
                </a:tc>
                <a:tc>
                  <a:txBody>
                    <a:bodyPr/>
                    <a:lstStyle/>
                    <a:p>
                      <a:pPr>
                        <a:defRPr sz="900" b="0">
                          <a:solidFill>
                            <a:srgbClr val="F0F0FF"/>
                          </a:solidFill>
                          <a:latin typeface="Calibri"/>
                        </a:defRPr>
                      </a:pPr>
                      <a:r>
                        <a:t>No known allergies</a:t>
                      </a:r>
                    </a:p>
                  </a:txBody>
                  <a:tcPr anchor="t" marL="64008" marR="64008" marT="27432" marB="27432">
                    <a:solidFill>
                      <a:srgbClr val="1E1E3A"/>
                    </a:solidFill>
                  </a:tcPr>
                </a:tc>
              </a:tr>
              <a:tr h="427808">
                <a:tc>
                  <a:txBody>
                    <a:bodyPr/>
                    <a:lstStyle/>
                    <a:p>
                      <a:pPr>
                        <a:defRPr sz="900" b="1">
                          <a:solidFill>
                            <a:srgbClr val="AA5CF7"/>
                          </a:solidFill>
                          <a:latin typeface="Calibri"/>
                        </a:defRPr>
                      </a:pPr>
                      <a:r>
                        <a:t>Exam Findings</a:t>
                      </a:r>
                    </a:p>
                  </a:txBody>
                  <a:tcPr anchor="t" marL="64008" marR="64008" marT="27432" marB="27432">
                    <a:solidFill>
                      <a:srgbClr val="161630"/>
                    </a:solidFill>
                  </a:tcPr>
                </a:tc>
                <a:tc>
                  <a:txBody>
                    <a:bodyPr/>
                    <a:lstStyle/>
                    <a:p>
                      <a:pPr>
                        <a:defRPr sz="900" b="0">
                          <a:solidFill>
                            <a:srgbClr val="F0F0FF"/>
                          </a:solidFill>
                          <a:latin typeface="Calibri"/>
                        </a:defRPr>
                      </a:pPr>
                      <a:r>
                        <a:t>No redness or swelling of the elbow | No deformity or misalignment | Pain on palpation of the lateral aspect of the right elbow | ...</a:t>
                      </a:r>
                    </a:p>
                  </a:txBody>
                  <a:tcPr anchor="t" marL="64008" marR="64008" marT="27432" marB="27432">
                    <a:solidFill>
                      <a:srgbClr val="161630"/>
                    </a:solidFill>
                  </a:tcPr>
                </a:tc>
                <a:tc>
                  <a:txBody>
                    <a:bodyPr/>
                    <a:lstStyle/>
                    <a:p>
                      <a:pPr>
                        <a:defRPr sz="900" b="0">
                          <a:solidFill>
                            <a:srgbClr val="F0F0FF"/>
                          </a:solidFill>
                          <a:latin typeface="Calibri"/>
                        </a:defRPr>
                      </a:pPr>
                      <a:r>
                        <a:t>Patient reports full range of motion of the right elbow and hand | No visible right elbow redness, swelling, skin changes, deformi...</a:t>
                      </a:r>
                    </a:p>
                  </a:txBody>
                  <a:tcPr anchor="t" marL="64008" marR="64008" marT="27432" marB="27432">
                    <a:solidFill>
                      <a:srgbClr val="161630"/>
                    </a:solidFill>
                  </a:tcPr>
                </a:tc>
              </a:tr>
              <a:tr h="427808">
                <a:tc>
                  <a:txBody>
                    <a:bodyPr/>
                    <a:lstStyle/>
                    <a:p>
                      <a:pPr>
                        <a:defRPr sz="900" b="1">
                          <a:solidFill>
                            <a:srgbClr val="AA5CF7"/>
                          </a:solidFill>
                          <a:latin typeface="Calibri"/>
                        </a:defRPr>
                      </a:pPr>
                      <a:r>
                        <a:t>Diagnosis</a:t>
                      </a:r>
                    </a:p>
                  </a:txBody>
                  <a:tcPr anchor="t" marL="64008" marR="64008" marT="27432" marB="27432">
                    <a:solidFill>
                      <a:srgbClr val="1E1E3A"/>
                    </a:solidFill>
                  </a:tcPr>
                </a:tc>
                <a:tc>
                  <a:txBody>
                    <a:bodyPr/>
                    <a:lstStyle/>
                    <a:p>
                      <a:pPr>
                        <a:defRPr sz="900" b="0">
                          <a:solidFill>
                            <a:srgbClr val="F0F0FF"/>
                          </a:solidFill>
                          <a:latin typeface="Calibri"/>
                        </a:defRPr>
                      </a:pPr>
                      <a:r>
                        <a:t>Lateral epicondylitis (Tennis elbow)</a:t>
                      </a:r>
                    </a:p>
                  </a:txBody>
                  <a:tcPr anchor="t" marL="64008" marR="64008" marT="27432" marB="27432">
                    <a:solidFill>
                      <a:srgbClr val="1E1E3A"/>
                    </a:solidFill>
                  </a:tcPr>
                </a:tc>
                <a:tc>
                  <a:txBody>
                    <a:bodyPr/>
                    <a:lstStyle/>
                    <a:p>
                      <a:pPr>
                        <a:defRPr sz="900" b="0">
                          <a:solidFill>
                            <a:srgbClr val="F0F0FF"/>
                          </a:solidFill>
                          <a:latin typeface="Calibri"/>
                        </a:defRPr>
                      </a:pPr>
                      <a:r>
                        <a:t>Right lateral epicondylitis (tennis elbow), likely related to repetitive occupational strain and continuous wrist extensor muscle ...</a:t>
                      </a:r>
                    </a:p>
                  </a:txBody>
                  <a:tcPr anchor="t" marL="64008" marR="64008" marT="27432" marB="27432">
                    <a:solidFill>
                      <a:srgbClr val="1E1E3A"/>
                    </a:solidFill>
                  </a:tcPr>
                </a:tc>
              </a:tr>
              <a:tr h="427808">
                <a:tc>
                  <a:txBody>
                    <a:bodyPr/>
                    <a:lstStyle/>
                    <a:p>
                      <a:pPr>
                        <a:defRPr sz="900" b="1">
                          <a:solidFill>
                            <a:srgbClr val="AA5CF7"/>
                          </a:solidFill>
                          <a:latin typeface="Calibri"/>
                        </a:defRPr>
                      </a:pPr>
                      <a:r>
                        <a:t>Diff. Diagnosis</a:t>
                      </a:r>
                    </a:p>
                  </a:txBody>
                  <a:tcPr anchor="t" marL="64008" marR="64008" marT="27432" marB="27432">
                    <a:solidFill>
                      <a:srgbClr val="161630"/>
                    </a:solidFill>
                  </a:tcPr>
                </a:tc>
                <a:tc>
                  <a:txBody>
                    <a:bodyPr/>
                    <a:lstStyle/>
                    <a:p>
                      <a:pPr>
                        <a:defRPr sz="900" b="0">
                          <a:solidFill>
                            <a:srgbClr val="F0F0FF"/>
                          </a:solidFill>
                          <a:latin typeface="Calibri"/>
                        </a:defRPr>
                      </a:pPr>
                      <a:r>
                        <a:t>—</a:t>
                      </a:r>
                    </a:p>
                  </a:txBody>
                  <a:tcPr anchor="t" marL="64008" marR="64008" marT="27432" marB="27432">
                    <a:solidFill>
                      <a:srgbClr val="161630"/>
                    </a:solidFill>
                  </a:tcPr>
                </a:tc>
                <a:tc>
                  <a:txBody>
                    <a:bodyPr/>
                    <a:lstStyle/>
                    <a:p>
                      <a:pPr>
                        <a:defRPr sz="900" b="0">
                          <a:solidFill>
                            <a:srgbClr val="F0F0FF"/>
                          </a:solidFill>
                          <a:latin typeface="Calibri"/>
                        </a:defRPr>
                      </a:pPr>
                      <a:r>
                        <a:t>Right elbow fracture, considered unlikely due to absence of trauma</a:t>
                      </a:r>
                    </a:p>
                  </a:txBody>
                  <a:tcPr anchor="t" marL="64008" marR="64008" marT="27432" marB="27432">
                    <a:solidFill>
                      <a:srgbClr val="161630"/>
                    </a:solidFill>
                  </a:tcPr>
                </a:tc>
              </a:tr>
              <a:tr h="427808">
                <a:tc>
                  <a:txBody>
                    <a:bodyPr/>
                    <a:lstStyle/>
                    <a:p>
                      <a:pPr>
                        <a:defRPr sz="900" b="1">
                          <a:solidFill>
                            <a:srgbClr val="AA5CF7"/>
                          </a:solidFill>
                          <a:latin typeface="Calibri"/>
                        </a:defRPr>
                      </a:pPr>
                      <a:r>
                        <a:t>Prescribed Meds</a:t>
                      </a:r>
                    </a:p>
                  </a:txBody>
                  <a:tcPr anchor="t" marL="64008" marR="64008" marT="27432" marB="27432">
                    <a:solidFill>
                      <a:srgbClr val="1E1E3A"/>
                    </a:solidFill>
                  </a:tcPr>
                </a:tc>
                <a:tc>
                  <a:txBody>
                    <a:bodyPr/>
                    <a:lstStyle/>
                    <a:p>
                      <a:pPr>
                        <a:defRPr sz="900" b="0">
                          <a:solidFill>
                            <a:srgbClr val="F0F0FF"/>
                          </a:solidFill>
                          <a:latin typeface="Calibri"/>
                        </a:defRPr>
                      </a:pPr>
                      <a:r>
                        <a:t>Continue Tylenol or NSAIDs as needed</a:t>
                      </a:r>
                    </a:p>
                  </a:txBody>
                  <a:tcPr anchor="t" marL="64008" marR="64008" marT="27432" marB="27432">
                    <a:solidFill>
                      <a:srgbClr val="1E1E3A"/>
                    </a:solidFill>
                  </a:tcPr>
                </a:tc>
                <a:tc>
                  <a:txBody>
                    <a:bodyPr/>
                    <a:lstStyle/>
                    <a:p>
                      <a:pPr>
                        <a:defRPr sz="900" b="0">
                          <a:solidFill>
                            <a:srgbClr val="F0F0FF"/>
                          </a:solidFill>
                          <a:latin typeface="Calibri"/>
                        </a:defRPr>
                      </a:pPr>
                      <a:r>
                        <a:t>—</a:t>
                      </a:r>
                    </a:p>
                  </a:txBody>
                  <a:tcPr anchor="t" marL="64008" marR="64008" marT="27432" marB="27432">
                    <a:solidFill>
                      <a:srgbClr val="1E1E3A"/>
                    </a:solidFill>
                  </a:tcPr>
                </a:tc>
              </a:tr>
              <a:tr h="427808">
                <a:tc>
                  <a:txBody>
                    <a:bodyPr/>
                    <a:lstStyle/>
                    <a:p>
                      <a:pPr>
                        <a:defRPr sz="900" b="1">
                          <a:solidFill>
                            <a:srgbClr val="AA5CF7"/>
                          </a:solidFill>
                          <a:latin typeface="Calibri"/>
                        </a:defRPr>
                      </a:pPr>
                      <a:r>
                        <a:t>Treatment Plan</a:t>
                      </a:r>
                    </a:p>
                  </a:txBody>
                  <a:tcPr anchor="t" marL="64008" marR="64008" marT="27432" marB="27432">
                    <a:solidFill>
                      <a:srgbClr val="161630"/>
                    </a:solidFill>
                  </a:tcPr>
                </a:tc>
                <a:tc>
                  <a:txBody>
                    <a:bodyPr/>
                    <a:lstStyle/>
                    <a:p>
                      <a:pPr>
                        <a:defRPr sz="900" b="0">
                          <a:solidFill>
                            <a:srgbClr val="F0F0FF"/>
                          </a:solidFill>
                          <a:latin typeface="Calibri"/>
                        </a:defRPr>
                      </a:pPr>
                      <a:r>
                        <a:t>Activity modifications (avoid repetitive strain/extensor muscle use at work) | Use of compression sleeve | Physical therapy | Appl...</a:t>
                      </a:r>
                    </a:p>
                  </a:txBody>
                  <a:tcPr anchor="t" marL="64008" marR="64008" marT="27432" marB="27432">
                    <a:solidFill>
                      <a:srgbClr val="161630"/>
                    </a:solidFill>
                  </a:tcPr>
                </a:tc>
                <a:tc>
                  <a:txBody>
                    <a:bodyPr/>
                    <a:lstStyle/>
                    <a:p>
                      <a:pPr>
                        <a:defRPr sz="900" b="0">
                          <a:solidFill>
                            <a:srgbClr val="F0F0FF"/>
                          </a:solidFill>
                          <a:latin typeface="Calibri"/>
                        </a:defRPr>
                      </a:pPr>
                      <a:r>
                        <a:t>Modify work activities and avoid overly repetitive tasks, particularly those using the forearm extensor muscles | Use a compressio...</a:t>
                      </a:r>
                    </a:p>
                  </a:txBody>
                  <a:tcPr anchor="t" marL="64008" marR="64008" marT="27432" marB="27432">
                    <a:solidFill>
                      <a:srgbClr val="161630"/>
                    </a:solidFill>
                  </a:tcPr>
                </a:tc>
              </a:tr>
              <a:tr h="427808">
                <a:tc>
                  <a:txBody>
                    <a:bodyPr/>
                    <a:lstStyle/>
                    <a:p>
                      <a:pPr>
                        <a:defRPr sz="900" b="1">
                          <a:solidFill>
                            <a:srgbClr val="AA5CF7"/>
                          </a:solidFill>
                          <a:latin typeface="Calibri"/>
                        </a:defRPr>
                      </a:pPr>
                      <a:r>
                        <a:t>Investigations</a:t>
                      </a:r>
                    </a:p>
                  </a:txBody>
                  <a:tcPr anchor="t" marL="64008" marR="64008" marT="27432" marB="27432">
                    <a:solidFill>
                      <a:srgbClr val="1E1E3A"/>
                    </a:solidFill>
                  </a:tcPr>
                </a:tc>
                <a:tc>
                  <a:txBody>
                    <a:bodyPr/>
                    <a:lstStyle/>
                    <a:p>
                      <a:pPr>
                        <a:defRPr sz="900" b="0">
                          <a:solidFill>
                            <a:srgbClr val="F0F0FF"/>
                          </a:solidFill>
                          <a:latin typeface="Calibri"/>
                        </a:defRPr>
                      </a:pPr>
                      <a:r>
                        <a:t>—</a:t>
                      </a:r>
                    </a:p>
                  </a:txBody>
                  <a:tcPr anchor="t" marL="64008" marR="64008" marT="27432" marB="27432">
                    <a:solidFill>
                      <a:srgbClr val="1E1E3A"/>
                    </a:solidFill>
                  </a:tcPr>
                </a:tc>
                <a:tc>
                  <a:txBody>
                    <a:bodyPr/>
                    <a:lstStyle/>
                    <a:p>
                      <a:pPr>
                        <a:defRPr sz="900" b="0">
                          <a:solidFill>
                            <a:srgbClr val="F0F0FF"/>
                          </a:solidFill>
                          <a:latin typeface="Calibri"/>
                        </a:defRPr>
                      </a:pPr>
                      <a:r>
                        <a:t>No imaging recommended; no trauma history and clinician has low concern for fracture</a:t>
                      </a:r>
                    </a:p>
                  </a:txBody>
                  <a:tcPr anchor="t" marL="64008" marR="64008" marT="27432" marB="27432">
                    <a:solidFill>
                      <a:srgbClr val="1E1E3A"/>
                    </a:solidFill>
                  </a:tcPr>
                </a:tc>
              </a:tr>
              <a:tr h="427816">
                <a:tc>
                  <a:txBody>
                    <a:bodyPr/>
                    <a:lstStyle/>
                    <a:p>
                      <a:pPr>
                        <a:defRPr sz="900" b="1">
                          <a:solidFill>
                            <a:srgbClr val="AA5CF7"/>
                          </a:solidFill>
                          <a:latin typeface="Calibri"/>
                        </a:defRPr>
                      </a:pPr>
                      <a:r>
                        <a:t>Follow Up</a:t>
                      </a:r>
                    </a:p>
                  </a:txBody>
                  <a:tcPr anchor="t" marL="64008" marR="64008" marT="27432" marB="27432">
                    <a:solidFill>
                      <a:srgbClr val="161630"/>
                    </a:solidFill>
                  </a:tcPr>
                </a:tc>
                <a:tc>
                  <a:txBody>
                    <a:bodyPr/>
                    <a:lstStyle/>
                    <a:p>
                      <a:pPr>
                        <a:defRPr sz="900" b="0">
                          <a:solidFill>
                            <a:srgbClr val="F0F0FF"/>
                          </a:solidFill>
                          <a:latin typeface="Calibri"/>
                        </a:defRPr>
                      </a:pPr>
                      <a:r>
                        <a:t>The condition should resolve in about six months to two years at most, but normally resolves in a couple of months with physical t...</a:t>
                      </a:r>
                    </a:p>
                  </a:txBody>
                  <a:tcPr anchor="t" marL="64008" marR="64008" marT="27432" marB="27432">
                    <a:solidFill>
                      <a:srgbClr val="161630"/>
                    </a:solidFill>
                  </a:tcPr>
                </a:tc>
                <a:tc>
                  <a:txBody>
                    <a:bodyPr/>
                    <a:lstStyle/>
                    <a:p>
                      <a:pPr>
                        <a:defRPr sz="900" b="0">
                          <a:solidFill>
                            <a:srgbClr val="F0F0FF"/>
                          </a:solidFill>
                          <a:latin typeface="Calibri"/>
                        </a:defRPr>
                      </a:pPr>
                      <a:r>
                        <a:t>—</a:t>
                      </a:r>
                    </a:p>
                  </a:txBody>
                  <a:tcPr anchor="t" marL="64008" marR="64008" marT="27432" marB="27432">
                    <a:solidFill>
                      <a:srgbClr val="161630"/>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AA5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914400"/>
            <a:ext cx="10332720" cy="685800"/>
          </a:xfrm>
          <a:prstGeom prst="rect">
            <a:avLst/>
          </a:prstGeom>
          <a:noFill/>
        </p:spPr>
        <p:txBody>
          <a:bodyPr wrap="square">
            <a:spAutoFit/>
          </a:bodyPr>
          <a:lstStyle/>
          <a:p>
            <a:pPr algn="ctr">
              <a:defRPr sz="4200" b="1">
                <a:solidFill>
                  <a:srgbClr val="AA5CF7"/>
                </a:solidFill>
                <a:latin typeface="Calibri"/>
              </a:defRPr>
            </a:pPr>
            <a:r>
              <a:t>Case Study: RES0050</a:t>
            </a:r>
          </a:p>
        </p:txBody>
      </p:sp>
      <p:sp>
        <p:nvSpPr>
          <p:cNvPr id="4" name="TextBox 3"/>
          <p:cNvSpPr txBox="1"/>
          <p:nvPr/>
        </p:nvSpPr>
        <p:spPr>
          <a:xfrm>
            <a:off x="914400" y="1691640"/>
            <a:ext cx="10332720" cy="457200"/>
          </a:xfrm>
          <a:prstGeom prst="rect">
            <a:avLst/>
          </a:prstGeom>
          <a:noFill/>
        </p:spPr>
        <p:txBody>
          <a:bodyPr wrap="square">
            <a:spAutoFit/>
          </a:bodyPr>
          <a:lstStyle/>
          <a:p>
            <a:pPr algn="ctr">
              <a:defRPr sz="2200" b="0">
                <a:solidFill>
                  <a:srgbClr val="F0F0FF"/>
                </a:solidFill>
                <a:latin typeface="Calibri"/>
              </a:defRPr>
            </a:pPr>
            <a:r>
              <a:t>Respiratory — Chronic Cough</a:t>
            </a:r>
          </a:p>
        </p:txBody>
      </p:sp>
      <p:sp>
        <p:nvSpPr>
          <p:cNvPr id="5" name="TextBox 4"/>
          <p:cNvSpPr txBox="1"/>
          <p:nvPr/>
        </p:nvSpPr>
        <p:spPr>
          <a:xfrm>
            <a:off x="914400" y="2240280"/>
            <a:ext cx="10332720" cy="365760"/>
          </a:xfrm>
          <a:prstGeom prst="rect">
            <a:avLst/>
          </a:prstGeom>
          <a:noFill/>
        </p:spPr>
        <p:txBody>
          <a:bodyPr wrap="square">
            <a:spAutoFit/>
          </a:bodyPr>
          <a:lstStyle/>
          <a:p>
            <a:pPr algn="ctr">
              <a:defRPr sz="1600" b="0">
                <a:solidFill>
                  <a:srgbClr val="8888AA"/>
                </a:solidFill>
                <a:latin typeface="Calibri"/>
              </a:defRPr>
            </a:pPr>
            <a:r>
              <a:t>SOAP Extraction Analysis  ·  GPT-5.6 Terra</a:t>
            </a:r>
          </a:p>
        </p:txBody>
      </p:sp>
      <p:sp>
        <p:nvSpPr>
          <p:cNvPr id="6" name="Rounded Rectangle 5"/>
          <p:cNvSpPr/>
          <p:nvPr/>
        </p:nvSpPr>
        <p:spPr>
          <a:xfrm>
            <a:off x="1097280" y="3017520"/>
            <a:ext cx="2286000" cy="777240"/>
          </a:xfrm>
          <a:prstGeom prst="roundRect">
            <a:avLst>
              <a:gd name="adj" fmla="val 4000"/>
            </a:avLst>
          </a:prstGeom>
          <a:solidFill>
            <a:srgbClr val="14142E"/>
          </a:solidFill>
          <a:ln w="9525">
            <a:solidFill>
              <a:srgbClr val="282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3090672"/>
            <a:ext cx="2286000" cy="320040"/>
          </a:xfrm>
          <a:prstGeom prst="rect">
            <a:avLst/>
          </a:prstGeom>
          <a:noFill/>
        </p:spPr>
        <p:txBody>
          <a:bodyPr wrap="square">
            <a:spAutoFit/>
          </a:bodyPr>
          <a:lstStyle/>
          <a:p>
            <a:pPr algn="ctr">
              <a:defRPr sz="1100" b="0">
                <a:solidFill>
                  <a:srgbClr val="8888AA"/>
                </a:solidFill>
                <a:latin typeface="Calibri"/>
              </a:defRPr>
            </a:pPr>
            <a:r>
              <a:t>Clinical Fidelity</a:t>
            </a:r>
          </a:p>
        </p:txBody>
      </p:sp>
      <p:sp>
        <p:nvSpPr>
          <p:cNvPr id="8" name="TextBox 7"/>
          <p:cNvSpPr txBox="1"/>
          <p:nvPr/>
        </p:nvSpPr>
        <p:spPr>
          <a:xfrm>
            <a:off x="1097280" y="3401568"/>
            <a:ext cx="2286000" cy="384048"/>
          </a:xfrm>
          <a:prstGeom prst="rect">
            <a:avLst/>
          </a:prstGeom>
          <a:noFill/>
        </p:spPr>
        <p:txBody>
          <a:bodyPr wrap="square">
            <a:spAutoFit/>
          </a:bodyPr>
          <a:lstStyle/>
          <a:p>
            <a:pPr algn="ctr">
              <a:defRPr sz="2400" b="1">
                <a:solidFill>
                  <a:srgbClr val="AA5CF7"/>
                </a:solidFill>
                <a:latin typeface="Calibri"/>
              </a:defRPr>
            </a:pPr>
            <a:r>
              <a:t>98%</a:t>
            </a:r>
          </a:p>
        </p:txBody>
      </p:sp>
      <p:sp>
        <p:nvSpPr>
          <p:cNvPr id="9" name="Rounded Rectangle 8"/>
          <p:cNvSpPr/>
          <p:nvPr/>
        </p:nvSpPr>
        <p:spPr>
          <a:xfrm>
            <a:off x="3688080" y="3017520"/>
            <a:ext cx="2286000" cy="777240"/>
          </a:xfrm>
          <a:prstGeom prst="roundRect">
            <a:avLst>
              <a:gd name="adj" fmla="val 4000"/>
            </a:avLst>
          </a:prstGeom>
          <a:solidFill>
            <a:srgbClr val="14142E"/>
          </a:solidFill>
          <a:ln w="9525">
            <a:solidFill>
              <a:srgbClr val="282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88080" y="3090672"/>
            <a:ext cx="2286000" cy="320040"/>
          </a:xfrm>
          <a:prstGeom prst="rect">
            <a:avLst/>
          </a:prstGeom>
          <a:noFill/>
        </p:spPr>
        <p:txBody>
          <a:bodyPr wrap="square">
            <a:spAutoFit/>
          </a:bodyPr>
          <a:lstStyle/>
          <a:p>
            <a:pPr algn="ctr">
              <a:defRPr sz="1100" b="0">
                <a:solidFill>
                  <a:srgbClr val="8888AA"/>
                </a:solidFill>
                <a:latin typeface="Calibri"/>
              </a:defRPr>
            </a:pPr>
            <a:r>
              <a:t>Logical Consistency</a:t>
            </a:r>
          </a:p>
        </p:txBody>
      </p:sp>
      <p:sp>
        <p:nvSpPr>
          <p:cNvPr id="11" name="TextBox 10"/>
          <p:cNvSpPr txBox="1"/>
          <p:nvPr/>
        </p:nvSpPr>
        <p:spPr>
          <a:xfrm>
            <a:off x="3688080" y="3401568"/>
            <a:ext cx="2286000" cy="384048"/>
          </a:xfrm>
          <a:prstGeom prst="rect">
            <a:avLst/>
          </a:prstGeom>
          <a:noFill/>
        </p:spPr>
        <p:txBody>
          <a:bodyPr wrap="square">
            <a:spAutoFit/>
          </a:bodyPr>
          <a:lstStyle/>
          <a:p>
            <a:pPr algn="ctr">
              <a:defRPr sz="2400" b="1">
                <a:solidFill>
                  <a:srgbClr val="AA5CF7"/>
                </a:solidFill>
                <a:latin typeface="Calibri"/>
              </a:defRPr>
            </a:pPr>
            <a:r>
              <a:t>95%</a:t>
            </a:r>
          </a:p>
        </p:txBody>
      </p:sp>
      <p:sp>
        <p:nvSpPr>
          <p:cNvPr id="12" name="Rounded Rectangle 11"/>
          <p:cNvSpPr/>
          <p:nvPr/>
        </p:nvSpPr>
        <p:spPr>
          <a:xfrm>
            <a:off x="6278880" y="3017520"/>
            <a:ext cx="2286000" cy="777240"/>
          </a:xfrm>
          <a:prstGeom prst="roundRect">
            <a:avLst>
              <a:gd name="adj" fmla="val 4000"/>
            </a:avLst>
          </a:prstGeom>
          <a:solidFill>
            <a:srgbClr val="14142E"/>
          </a:solidFill>
          <a:ln w="9525">
            <a:solidFill>
              <a:srgbClr val="282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78880" y="3090672"/>
            <a:ext cx="2286000" cy="320040"/>
          </a:xfrm>
          <a:prstGeom prst="rect">
            <a:avLst/>
          </a:prstGeom>
          <a:noFill/>
        </p:spPr>
        <p:txBody>
          <a:bodyPr wrap="square">
            <a:spAutoFit/>
          </a:bodyPr>
          <a:lstStyle/>
          <a:p>
            <a:pPr algn="ctr">
              <a:defRPr sz="1100" b="0">
                <a:solidFill>
                  <a:srgbClr val="8888AA"/>
                </a:solidFill>
                <a:latin typeface="Calibri"/>
              </a:defRPr>
            </a:pPr>
            <a:r>
              <a:t>SOAP Structural Fidelity</a:t>
            </a:r>
          </a:p>
        </p:txBody>
      </p:sp>
      <p:sp>
        <p:nvSpPr>
          <p:cNvPr id="14" name="TextBox 13"/>
          <p:cNvSpPr txBox="1"/>
          <p:nvPr/>
        </p:nvSpPr>
        <p:spPr>
          <a:xfrm>
            <a:off x="6278880" y="3401568"/>
            <a:ext cx="2286000" cy="384048"/>
          </a:xfrm>
          <a:prstGeom prst="rect">
            <a:avLst/>
          </a:prstGeom>
          <a:noFill/>
        </p:spPr>
        <p:txBody>
          <a:bodyPr wrap="square">
            <a:spAutoFit/>
          </a:bodyPr>
          <a:lstStyle/>
          <a:p>
            <a:pPr algn="ctr">
              <a:defRPr sz="2400" b="1">
                <a:solidFill>
                  <a:srgbClr val="AA5CF7"/>
                </a:solidFill>
                <a:latin typeface="Calibri"/>
              </a:defRPr>
            </a:pPr>
            <a:r>
              <a:t>95%</a:t>
            </a:r>
          </a:p>
        </p:txBody>
      </p:sp>
      <p:sp>
        <p:nvSpPr>
          <p:cNvPr id="15" name="Rounded Rectangle 14"/>
          <p:cNvSpPr/>
          <p:nvPr/>
        </p:nvSpPr>
        <p:spPr>
          <a:xfrm>
            <a:off x="8869680" y="3017520"/>
            <a:ext cx="2286000" cy="777240"/>
          </a:xfrm>
          <a:prstGeom prst="roundRect">
            <a:avLst>
              <a:gd name="adj" fmla="val 4000"/>
            </a:avLst>
          </a:prstGeom>
          <a:solidFill>
            <a:srgbClr val="14142E"/>
          </a:solidFill>
          <a:ln w="9525">
            <a:solidFill>
              <a:srgbClr val="282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69680" y="3090672"/>
            <a:ext cx="2286000" cy="320040"/>
          </a:xfrm>
          <a:prstGeom prst="rect">
            <a:avLst/>
          </a:prstGeom>
          <a:noFill/>
        </p:spPr>
        <p:txBody>
          <a:bodyPr wrap="square">
            <a:spAutoFit/>
          </a:bodyPr>
          <a:lstStyle/>
          <a:p>
            <a:pPr algn="ctr">
              <a:defRPr sz="1100" b="0">
                <a:solidFill>
                  <a:srgbClr val="8888AA"/>
                </a:solidFill>
                <a:latin typeface="Calibri"/>
              </a:defRPr>
            </a:pPr>
            <a:r>
              <a:t>Overall Average</a:t>
            </a:r>
          </a:p>
        </p:txBody>
      </p:sp>
      <p:sp>
        <p:nvSpPr>
          <p:cNvPr id="17" name="TextBox 16"/>
          <p:cNvSpPr txBox="1"/>
          <p:nvPr/>
        </p:nvSpPr>
        <p:spPr>
          <a:xfrm>
            <a:off x="8869680" y="3401568"/>
            <a:ext cx="2286000" cy="384048"/>
          </a:xfrm>
          <a:prstGeom prst="rect">
            <a:avLst/>
          </a:prstGeom>
          <a:noFill/>
        </p:spPr>
        <p:txBody>
          <a:bodyPr wrap="square">
            <a:spAutoFit/>
          </a:bodyPr>
          <a:lstStyle/>
          <a:p>
            <a:pPr algn="ctr">
              <a:defRPr sz="2400" b="1">
                <a:solidFill>
                  <a:srgbClr val="FFCC00"/>
                </a:solidFill>
                <a:latin typeface="Calibri"/>
              </a:defRPr>
            </a:pPr>
            <a:r>
              <a:t>96.0%</a:t>
            </a:r>
          </a:p>
        </p:txBody>
      </p:sp>
      <p:sp>
        <p:nvSpPr>
          <p:cNvPr id="18" name="TextBox 17"/>
          <p:cNvSpPr txBox="1"/>
          <p:nvPr/>
        </p:nvSpPr>
        <p:spPr>
          <a:xfrm>
            <a:off x="914400" y="4114800"/>
            <a:ext cx="10332720" cy="320040"/>
          </a:xfrm>
          <a:prstGeom prst="rect">
            <a:avLst/>
          </a:prstGeom>
          <a:noFill/>
        </p:spPr>
        <p:txBody>
          <a:bodyPr wrap="square">
            <a:spAutoFit/>
          </a:bodyPr>
          <a:lstStyle/>
          <a:p>
            <a:pPr algn="ctr">
              <a:defRPr sz="1200" b="0">
                <a:solidFill>
                  <a:srgbClr val="8888AA"/>
                </a:solidFill>
                <a:latin typeface="Calibri"/>
              </a:defRPr>
            </a:pPr>
            <a:r>
              <a:t>Evaluated by gemini-3.5-flash-lite  |  Scale: 0–100%  |  Paper-aligned metrics</a:t>
            </a:r>
          </a:p>
        </p:txBody>
      </p:sp>
      <p:sp>
        <p:nvSpPr>
          <p:cNvPr id="19" name="Rectangle 18"/>
          <p:cNvSpPr/>
          <p:nvPr/>
        </p:nvSpPr>
        <p:spPr>
          <a:xfrm>
            <a:off x="0" y="6675120"/>
            <a:ext cx="12191695" cy="91440"/>
          </a:xfrm>
          <a:prstGeom prst="rect">
            <a:avLst/>
          </a:prstGeom>
          <a:solidFill>
            <a:srgbClr val="AA5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TextBox 1"/>
          <p:cNvSpPr txBox="1"/>
          <p:nvPr/>
        </p:nvSpPr>
        <p:spPr>
          <a:xfrm>
            <a:off x="457200" y="182880"/>
            <a:ext cx="11247120" cy="502920"/>
          </a:xfrm>
          <a:prstGeom prst="rect">
            <a:avLst/>
          </a:prstGeom>
          <a:noFill/>
        </p:spPr>
        <p:txBody>
          <a:bodyPr wrap="square">
            <a:spAutoFit/>
          </a:bodyPr>
          <a:lstStyle/>
          <a:p>
            <a:pPr algn="l">
              <a:defRPr sz="2200" b="1">
                <a:solidFill>
                  <a:srgbClr val="AA5CF7"/>
                </a:solidFill>
                <a:latin typeface="Calibri"/>
              </a:defRPr>
            </a:pPr>
            <a:r>
              <a:t>RES0050 — Speech-to-Text Transcript Comparison</a:t>
            </a:r>
          </a:p>
        </p:txBody>
      </p:sp>
      <p:sp>
        <p:nvSpPr>
          <p:cNvPr id="3" name="TextBox 2"/>
          <p:cNvSpPr txBox="1"/>
          <p:nvPr/>
        </p:nvSpPr>
        <p:spPr>
          <a:xfrm>
            <a:off x="457200" y="749808"/>
            <a:ext cx="11247120" cy="292608"/>
          </a:xfrm>
          <a:prstGeom prst="rect">
            <a:avLst/>
          </a:prstGeom>
          <a:noFill/>
        </p:spPr>
        <p:txBody>
          <a:bodyPr wrap="square">
            <a:spAutoFit/>
          </a:bodyPr>
          <a:lstStyle/>
          <a:p>
            <a:pPr algn="l">
              <a:defRPr sz="1300" b="0">
                <a:solidFill>
                  <a:srgbClr val="8888AA"/>
                </a:solidFill>
                <a:latin typeface="Calibri"/>
              </a:defRPr>
            </a:pPr>
            <a:r>
              <a:t>Ground Truth dialogue vs GPT-5.6 Terra diarized STT output (first ~100 words)</a:t>
            </a:r>
          </a:p>
        </p:txBody>
      </p:sp>
      <p:sp>
        <p:nvSpPr>
          <p:cNvPr id="4" name="Rounded Rectangle 3"/>
          <p:cNvSpPr/>
          <p:nvPr/>
        </p:nvSpPr>
        <p:spPr>
          <a:xfrm>
            <a:off x="274320" y="1170432"/>
            <a:ext cx="5577840" cy="5349240"/>
          </a:xfrm>
          <a:prstGeom prst="roundRect">
            <a:avLst>
              <a:gd name="adj" fmla="val 4000"/>
            </a:avLst>
          </a:prstGeom>
          <a:solidFill>
            <a:srgbClr val="14142E"/>
          </a:solidFill>
          <a:ln w="9525">
            <a:solidFill>
              <a:srgbClr val="282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335024"/>
            <a:ext cx="3474720" cy="384048"/>
          </a:xfrm>
          <a:prstGeom prst="roundRect">
            <a:avLst>
              <a:gd name="adj" fmla="val 50000"/>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300" b="1">
                <a:solidFill>
                  <a:srgbClr val="0A0A1A"/>
                </a:solidFill>
                <a:latin typeface="Calibri"/>
              </a:defRPr>
            </a:pPr>
            <a:r>
              <a:t>📄  Real Transcript (Ground Truth)</a:t>
            </a:r>
          </a:p>
        </p:txBody>
      </p:sp>
      <p:sp>
        <p:nvSpPr>
          <p:cNvPr id="6" name="TextBox 5"/>
          <p:cNvSpPr txBox="1"/>
          <p:nvPr/>
        </p:nvSpPr>
        <p:spPr>
          <a:xfrm>
            <a:off x="502920" y="1856232"/>
            <a:ext cx="5166360" cy="4434840"/>
          </a:xfrm>
          <a:prstGeom prst="rect">
            <a:avLst/>
          </a:prstGeom>
          <a:noFill/>
        </p:spPr>
        <p:txBody>
          <a:bodyPr wrap="square">
            <a:spAutoFit/>
          </a:bodyPr>
          <a:lstStyle/>
          <a:p>
            <a:pPr algn="l">
              <a:defRPr sz="1300" b="0">
                <a:solidFill>
                  <a:srgbClr val="F0F0FF"/>
                </a:solidFill>
                <a:latin typeface="Calibri"/>
              </a:defRPr>
            </a:pPr>
            <a:r>
              <a:t>D: I was wondering if you could tell me what brought you in.</a:t>
            </a:r>
            <a:br/>
            <a:r>
              <a:t>P: Sure, um, I have been coughing a lot. I've been feeling short of breath and I just feel really wheezy, so I thought I should come check it out.</a:t>
            </a:r>
            <a:br/>
            <a:r>
              <a:t>D: OK, when did the cough start?</a:t>
            </a:r>
            <a:br/>
            <a:r>
              <a:t>P: I've always had a cough. Well, I guess I've had a cough for the past five years, but over the past three days it's gotten a lot worse.</a:t>
            </a:r>
            <a:br/>
            <a:r>
              <a:t>D: OK, did anything happen 3 days ago that has brought the cough on?</a:t>
            </a:r>
            <a:br/>
            <a:r>
              <a:t>...</a:t>
            </a:r>
          </a:p>
        </p:txBody>
      </p:sp>
      <p:sp>
        <p:nvSpPr>
          <p:cNvPr id="7" name="Rounded Rectangle 6"/>
          <p:cNvSpPr/>
          <p:nvPr/>
        </p:nvSpPr>
        <p:spPr>
          <a:xfrm>
            <a:off x="6172200" y="1170432"/>
            <a:ext cx="5577840" cy="5349240"/>
          </a:xfrm>
          <a:prstGeom prst="roundRect">
            <a:avLst>
              <a:gd name="adj" fmla="val 4000"/>
            </a:avLst>
          </a:prstGeom>
          <a:solidFill>
            <a:srgbClr val="14142E"/>
          </a:solidFill>
          <a:ln w="9525">
            <a:solidFill>
              <a:srgbClr val="282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00800" y="1335024"/>
            <a:ext cx="3749039" cy="384048"/>
          </a:xfrm>
          <a:prstGeom prst="roundRect">
            <a:avLst>
              <a:gd name="adj" fmla="val 50000"/>
            </a:avLst>
          </a:prstGeom>
          <a:solidFill>
            <a:srgbClr val="AA5CF7"/>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300" b="1">
                <a:solidFill>
                  <a:srgbClr val="F0F0FF"/>
                </a:solidFill>
                <a:latin typeface="Calibri"/>
              </a:defRPr>
            </a:pPr>
            <a:r>
              <a:t>🤖  GPT-5.6 Terra Diarized STT</a:t>
            </a:r>
          </a:p>
        </p:txBody>
      </p:sp>
      <p:sp>
        <p:nvSpPr>
          <p:cNvPr id="9" name="TextBox 8"/>
          <p:cNvSpPr txBox="1"/>
          <p:nvPr/>
        </p:nvSpPr>
        <p:spPr>
          <a:xfrm>
            <a:off x="6400800" y="1856232"/>
            <a:ext cx="5166360" cy="4434840"/>
          </a:xfrm>
          <a:prstGeom prst="rect">
            <a:avLst/>
          </a:prstGeom>
          <a:noFill/>
        </p:spPr>
        <p:txBody>
          <a:bodyPr wrap="square">
            <a:spAutoFit/>
          </a:bodyPr>
          <a:lstStyle/>
          <a:p>
            <a:pPr algn="l">
              <a:defRPr sz="1300" b="0">
                <a:solidFill>
                  <a:srgbClr val="F0F0FF"/>
                </a:solidFill>
                <a:latin typeface="Calibri"/>
              </a:defRPr>
            </a:pPr>
            <a:r>
              <a:t>D: I was wondering if you could tell me what brought you in?</a:t>
            </a:r>
            <a:br/>
            <a:r>
              <a:t>P: Sure. I have been coughing a lot. I've been feeling short of breath, and I just feel really</a:t>
            </a:r>
            <a:br/>
            <a:r>
              <a:t>P: wheezy, so I thought I should come check it out.</a:t>
            </a:r>
            <a:br/>
            <a:r>
              <a:t>D: Okay. When did the cough start?</a:t>
            </a:r>
            <a:br/>
            <a:r>
              <a:t>P: I've always had a cough. Well, I guess I've had a cough for the past five years,</a:t>
            </a:r>
            <a:br/>
            <a:r>
              <a:t>P: but over the past three days, it's gotten a lot worse.</a:t>
            </a:r>
            <a:br/>
            <a:r>
              <a:t>D: Okay. Did anything happen three days ago that has brought the cough on?</a:t>
            </a:r>
            <a:br/>
            <a:r>
              <a: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TextBox 1"/>
          <p:cNvSpPr txBox="1"/>
          <p:nvPr/>
        </p:nvSpPr>
        <p:spPr>
          <a:xfrm>
            <a:off x="457200" y="182880"/>
            <a:ext cx="11247120" cy="502920"/>
          </a:xfrm>
          <a:prstGeom prst="rect">
            <a:avLst/>
          </a:prstGeom>
          <a:noFill/>
        </p:spPr>
        <p:txBody>
          <a:bodyPr wrap="square">
            <a:spAutoFit/>
          </a:bodyPr>
          <a:lstStyle/>
          <a:p>
            <a:pPr algn="l">
              <a:defRPr sz="2200" b="1">
                <a:solidFill>
                  <a:srgbClr val="AA5CF7"/>
                </a:solidFill>
                <a:latin typeface="Calibri"/>
              </a:defRPr>
            </a:pPr>
            <a:r>
              <a:t>RES0050 — Clinical Summary Comparison</a:t>
            </a:r>
          </a:p>
        </p:txBody>
      </p:sp>
      <p:sp>
        <p:nvSpPr>
          <p:cNvPr id="3" name="TextBox 2"/>
          <p:cNvSpPr txBox="1"/>
          <p:nvPr/>
        </p:nvSpPr>
        <p:spPr>
          <a:xfrm>
            <a:off x="457200" y="749808"/>
            <a:ext cx="11247120" cy="292608"/>
          </a:xfrm>
          <a:prstGeom prst="rect">
            <a:avLst/>
          </a:prstGeom>
          <a:noFill/>
        </p:spPr>
        <p:txBody>
          <a:bodyPr wrap="square">
            <a:spAutoFit/>
          </a:bodyPr>
          <a:lstStyle/>
          <a:p>
            <a:pPr algn="l">
              <a:defRPr sz="1300" b="0">
                <a:solidFill>
                  <a:srgbClr val="8888AA"/>
                </a:solidFill>
                <a:latin typeface="Calibri"/>
              </a:defRPr>
            </a:pPr>
            <a:r>
              <a:t>AI-extracted clinical summary: Ground Truth vs GPT-5.6 Terra (first ~100 words)</a:t>
            </a:r>
          </a:p>
        </p:txBody>
      </p:sp>
      <p:sp>
        <p:nvSpPr>
          <p:cNvPr id="4" name="Rounded Rectangle 3"/>
          <p:cNvSpPr/>
          <p:nvPr/>
        </p:nvSpPr>
        <p:spPr>
          <a:xfrm>
            <a:off x="274320" y="1170432"/>
            <a:ext cx="5577840" cy="5349240"/>
          </a:xfrm>
          <a:prstGeom prst="roundRect">
            <a:avLst>
              <a:gd name="adj" fmla="val 4000"/>
            </a:avLst>
          </a:prstGeom>
          <a:solidFill>
            <a:srgbClr val="14142E"/>
          </a:solidFill>
          <a:ln w="9525">
            <a:solidFill>
              <a:srgbClr val="282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335024"/>
            <a:ext cx="3291840" cy="384048"/>
          </a:xfrm>
          <a:prstGeom prst="roundRect">
            <a:avLst>
              <a:gd name="adj" fmla="val 50000"/>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300" b="1">
                <a:solidFill>
                  <a:srgbClr val="0A0A1A"/>
                </a:solidFill>
                <a:latin typeface="Calibri"/>
              </a:defRPr>
            </a:pPr>
            <a:r>
              <a:t>📄  Ground Truth Summary</a:t>
            </a:r>
          </a:p>
        </p:txBody>
      </p:sp>
      <p:sp>
        <p:nvSpPr>
          <p:cNvPr id="6" name="TextBox 5"/>
          <p:cNvSpPr txBox="1"/>
          <p:nvPr/>
        </p:nvSpPr>
        <p:spPr>
          <a:xfrm>
            <a:off x="502920" y="1856232"/>
            <a:ext cx="5166360" cy="4434840"/>
          </a:xfrm>
          <a:prstGeom prst="rect">
            <a:avLst/>
          </a:prstGeom>
          <a:noFill/>
        </p:spPr>
        <p:txBody>
          <a:bodyPr wrap="square">
            <a:spAutoFit/>
          </a:bodyPr>
          <a:lstStyle/>
          <a:p>
            <a:pPr algn="l">
              <a:defRPr sz="1300" b="0">
                <a:solidFill>
                  <a:srgbClr val="F0F0FF"/>
                </a:solidFill>
                <a:latin typeface="Calibri"/>
              </a:defRPr>
            </a:pPr>
            <a:r>
              <a:t>A patient with a 5-year history of chronic cough presented for evaluation of worsening cough, increased yellow/green sputum, wheezing, and exertional shortness of breath over the past 3 days. The patient has a 45 pack-year smoking history (quit 2 years ago) and a past medical history of hypertension and diabetes. The differential diagnosis includes viral infection, bacterial infection, COPD exacerbation, and COVID-19, with plans initiated for a COVID-19 PCR nasal swab and chest X-ray.</a:t>
            </a:r>
          </a:p>
        </p:txBody>
      </p:sp>
      <p:sp>
        <p:nvSpPr>
          <p:cNvPr id="7" name="Rounded Rectangle 6"/>
          <p:cNvSpPr/>
          <p:nvPr/>
        </p:nvSpPr>
        <p:spPr>
          <a:xfrm>
            <a:off x="6172200" y="1170432"/>
            <a:ext cx="5577840" cy="5349240"/>
          </a:xfrm>
          <a:prstGeom prst="roundRect">
            <a:avLst>
              <a:gd name="adj" fmla="val 4000"/>
            </a:avLst>
          </a:prstGeom>
          <a:solidFill>
            <a:srgbClr val="14142E"/>
          </a:solidFill>
          <a:ln w="9525">
            <a:solidFill>
              <a:srgbClr val="282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00800" y="1335024"/>
            <a:ext cx="3474720" cy="384048"/>
          </a:xfrm>
          <a:prstGeom prst="roundRect">
            <a:avLst>
              <a:gd name="adj" fmla="val 50000"/>
            </a:avLst>
          </a:prstGeom>
          <a:solidFill>
            <a:srgbClr val="AA5CF7"/>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300" b="1">
                <a:solidFill>
                  <a:srgbClr val="F0F0FF"/>
                </a:solidFill>
                <a:latin typeface="Calibri"/>
              </a:defRPr>
            </a:pPr>
            <a:r>
              <a:t>🤖  GPT-5.6 Terra Summary</a:t>
            </a:r>
          </a:p>
        </p:txBody>
      </p:sp>
      <p:sp>
        <p:nvSpPr>
          <p:cNvPr id="9" name="TextBox 8"/>
          <p:cNvSpPr txBox="1"/>
          <p:nvPr/>
        </p:nvSpPr>
        <p:spPr>
          <a:xfrm>
            <a:off x="6400800" y="1856232"/>
            <a:ext cx="5166360" cy="4434840"/>
          </a:xfrm>
          <a:prstGeom prst="rect">
            <a:avLst/>
          </a:prstGeom>
          <a:noFill/>
        </p:spPr>
        <p:txBody>
          <a:bodyPr wrap="square">
            <a:spAutoFit/>
          </a:bodyPr>
          <a:lstStyle/>
          <a:p>
            <a:pPr algn="l">
              <a:defRPr sz="1300" b="0">
                <a:solidFill>
                  <a:srgbClr val="F0F0FF"/>
                </a:solidFill>
                <a:latin typeface="Calibri"/>
              </a:defRPr>
            </a:pPr>
            <a:r>
              <a:t>Patient presents with a chronic cough for five years that has worsened substantially over the past three days, with increased yellow/green sputum, wheezing since last night, exertional shortness of breath, fatigue, and dull chest discomfort only after coughing. The doctor considers viral or bacterial respiratory infection, COPD exacerbation, and COVID-19, and plans COVID PCR testing, chest radiography, and additional investigations.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TextBox 1"/>
          <p:cNvSpPr txBox="1"/>
          <p:nvPr/>
        </p:nvSpPr>
        <p:spPr>
          <a:xfrm>
            <a:off x="365760" y="137160"/>
            <a:ext cx="11430000" cy="457200"/>
          </a:xfrm>
          <a:prstGeom prst="rect">
            <a:avLst/>
          </a:prstGeom>
          <a:noFill/>
        </p:spPr>
        <p:txBody>
          <a:bodyPr wrap="square">
            <a:spAutoFit/>
          </a:bodyPr>
          <a:lstStyle/>
          <a:p>
            <a:pPr algn="l">
              <a:defRPr sz="2000" b="1">
                <a:solidFill>
                  <a:srgbClr val="AA5CF7"/>
                </a:solidFill>
                <a:latin typeface="Calibri"/>
              </a:defRPr>
            </a:pPr>
            <a:r>
              <a:t>RES0050 — Structured SOAP Report Comparison</a:t>
            </a:r>
          </a:p>
        </p:txBody>
      </p:sp>
      <p:graphicFrame>
        <p:nvGraphicFramePr>
          <p:cNvPr id="3" name="Table 2"/>
          <p:cNvGraphicFramePr>
            <a:graphicFrameLocks noGrp="1"/>
          </p:cNvGraphicFramePr>
          <p:nvPr/>
        </p:nvGraphicFramePr>
        <p:xfrm>
          <a:off x="274320" y="713232"/>
          <a:ext cx="11612880" cy="5989320"/>
        </p:xfrm>
        <a:graphic>
          <a:graphicData uri="http://schemas.openxmlformats.org/drawingml/2006/table">
            <a:tbl>
              <a:tblPr firstRow="1" bandRow="1">
                <a:tableStyleId>{5C22544A-7EE6-4342-B048-85BDC9FD1C3A}</a:tableStyleId>
              </a:tblPr>
              <a:tblGrid>
                <a:gridCol w="1691640"/>
                <a:gridCol w="4965192"/>
                <a:gridCol w="4956048"/>
              </a:tblGrid>
              <a:tr h="427808">
                <a:tc>
                  <a:txBody>
                    <a:bodyPr/>
                    <a:lstStyle/>
                    <a:p>
                      <a:pPr algn="ctr">
                        <a:defRPr sz="1100" b="1">
                          <a:solidFill>
                            <a:srgbClr val="AA5CF7"/>
                          </a:solidFill>
                          <a:latin typeface="Calibri"/>
                        </a:defRPr>
                      </a:pPr>
                      <a:r>
                        <a:t>SOAP Field</a:t>
                      </a:r>
                    </a:p>
                  </a:txBody>
                  <a:tcPr anchor="ctr">
                    <a:solidFill>
                      <a:srgbClr val="1E1E40"/>
                    </a:solidFill>
                  </a:tcPr>
                </a:tc>
                <a:tc>
                  <a:txBody>
                    <a:bodyPr/>
                    <a:lstStyle/>
                    <a:p>
                      <a:pPr algn="ctr">
                        <a:defRPr sz="1100" b="1">
                          <a:solidFill>
                            <a:srgbClr val="00E596"/>
                          </a:solidFill>
                          <a:latin typeface="Calibri"/>
                        </a:defRPr>
                      </a:pPr>
                      <a:r>
                        <a:t>Ground Truth</a:t>
                      </a:r>
                    </a:p>
                  </a:txBody>
                  <a:tcPr anchor="ctr">
                    <a:solidFill>
                      <a:srgbClr val="1E1E40"/>
                    </a:solidFill>
                  </a:tcPr>
                </a:tc>
                <a:tc>
                  <a:txBody>
                    <a:bodyPr/>
                    <a:lstStyle/>
                    <a:p>
                      <a:pPr algn="ctr">
                        <a:defRPr sz="1100" b="1">
                          <a:solidFill>
                            <a:srgbClr val="AA5CF7"/>
                          </a:solidFill>
                          <a:latin typeface="Calibri"/>
                        </a:defRPr>
                      </a:pPr>
                      <a:r>
                        <a:t>Predicted (GPT-5.6 Terra)</a:t>
                      </a:r>
                    </a:p>
                  </a:txBody>
                  <a:tcPr anchor="ctr">
                    <a:solidFill>
                      <a:srgbClr val="1E1E40"/>
                    </a:solidFill>
                  </a:tcPr>
                </a:tc>
              </a:tr>
              <a:tr h="427808">
                <a:tc>
                  <a:txBody>
                    <a:bodyPr/>
                    <a:lstStyle/>
                    <a:p>
                      <a:pPr>
                        <a:defRPr sz="900" b="1">
                          <a:solidFill>
                            <a:srgbClr val="AA5CF7"/>
                          </a:solidFill>
                          <a:latin typeface="Calibri"/>
                        </a:defRPr>
                      </a:pPr>
                      <a:r>
                        <a:t>Chief Complaint</a:t>
                      </a:r>
                    </a:p>
                  </a:txBody>
                  <a:tcPr anchor="t" marL="64008" marR="64008" marT="27432" marB="27432">
                    <a:solidFill>
                      <a:srgbClr val="161630"/>
                    </a:solidFill>
                  </a:tcPr>
                </a:tc>
                <a:tc>
                  <a:txBody>
                    <a:bodyPr/>
                    <a:lstStyle/>
                    <a:p>
                      <a:pPr>
                        <a:defRPr sz="900" b="0">
                          <a:solidFill>
                            <a:srgbClr val="F0F0FF"/>
                          </a:solidFill>
                          <a:latin typeface="Calibri"/>
                        </a:defRPr>
                      </a:pPr>
                      <a:r>
                        <a:t>Worsening cough, shortness of breath, and wheezing over the past 3 days.</a:t>
                      </a:r>
                    </a:p>
                  </a:txBody>
                  <a:tcPr anchor="t" marL="64008" marR="64008" marT="27432" marB="27432">
                    <a:solidFill>
                      <a:srgbClr val="161630"/>
                    </a:solidFill>
                  </a:tcPr>
                </a:tc>
                <a:tc>
                  <a:txBody>
                    <a:bodyPr/>
                    <a:lstStyle/>
                    <a:p>
                      <a:pPr>
                        <a:defRPr sz="900" b="0">
                          <a:solidFill>
                            <a:srgbClr val="F0F0FF"/>
                          </a:solidFill>
                          <a:latin typeface="Calibri"/>
                        </a:defRPr>
                      </a:pPr>
                      <a:r>
                        <a:t>Worsening cough with shortness of breath and wheezing.</a:t>
                      </a:r>
                    </a:p>
                  </a:txBody>
                  <a:tcPr anchor="t" marL="64008" marR="64008" marT="27432" marB="27432">
                    <a:solidFill>
                      <a:srgbClr val="161630"/>
                    </a:solidFill>
                  </a:tcPr>
                </a:tc>
              </a:tr>
              <a:tr h="427808">
                <a:tc>
                  <a:txBody>
                    <a:bodyPr/>
                    <a:lstStyle/>
                    <a:p>
                      <a:pPr>
                        <a:defRPr sz="900" b="1">
                          <a:solidFill>
                            <a:srgbClr val="AA5CF7"/>
                          </a:solidFill>
                          <a:latin typeface="Calibri"/>
                        </a:defRPr>
                      </a:pPr>
                      <a:r>
                        <a:t>Symptoms</a:t>
                      </a:r>
                    </a:p>
                  </a:txBody>
                  <a:tcPr anchor="t" marL="64008" marR="64008" marT="27432" marB="27432">
                    <a:solidFill>
                      <a:srgbClr val="1E1E3A"/>
                    </a:solidFill>
                  </a:tcPr>
                </a:tc>
                <a:tc>
                  <a:txBody>
                    <a:bodyPr/>
                    <a:lstStyle/>
                    <a:p>
                      <a:pPr>
                        <a:defRPr sz="900" b="0">
                          <a:solidFill>
                            <a:srgbClr val="F0F0FF"/>
                          </a:solidFill>
                          <a:latin typeface="Calibri"/>
                        </a:defRPr>
                      </a:pPr>
                      <a:r>
                        <a:t>Worsening cough (chronic for 5 years, exacerbated past 3 days, worse in the morning) | Shortness of breath (worse with walking and...</a:t>
                      </a:r>
                    </a:p>
                  </a:txBody>
                  <a:tcPr anchor="t" marL="64008" marR="64008" marT="27432" marB="27432">
                    <a:solidFill>
                      <a:srgbClr val="1E1E3A"/>
                    </a:solidFill>
                  </a:tcPr>
                </a:tc>
                <a:tc>
                  <a:txBody>
                    <a:bodyPr/>
                    <a:lstStyle/>
                    <a:p>
                      <a:pPr>
                        <a:defRPr sz="900" b="0">
                          <a:solidFill>
                            <a:srgbClr val="F0F0FF"/>
                          </a:solidFill>
                          <a:latin typeface="Calibri"/>
                        </a:defRPr>
                      </a:pPr>
                      <a:r>
                        <a:t>Chronic cough for approximately 5 years, markedly worse over the past 3 days | Cough worse in the morning | Increased sputum produ...</a:t>
                      </a:r>
                    </a:p>
                  </a:txBody>
                  <a:tcPr anchor="t" marL="64008" marR="64008" marT="27432" marB="27432">
                    <a:solidFill>
                      <a:srgbClr val="1E1E3A"/>
                    </a:solidFill>
                  </a:tcPr>
                </a:tc>
              </a:tr>
              <a:tr h="427808">
                <a:tc>
                  <a:txBody>
                    <a:bodyPr/>
                    <a:lstStyle/>
                    <a:p>
                      <a:pPr>
                        <a:defRPr sz="900" b="1">
                          <a:solidFill>
                            <a:srgbClr val="AA5CF7"/>
                          </a:solidFill>
                          <a:latin typeface="Calibri"/>
                        </a:defRPr>
                      </a:pPr>
                      <a:r>
                        <a:t>Symptom Onset</a:t>
                      </a:r>
                    </a:p>
                  </a:txBody>
                  <a:tcPr anchor="t" marL="64008" marR="64008" marT="27432" marB="27432">
                    <a:solidFill>
                      <a:srgbClr val="161630"/>
                    </a:solidFill>
                  </a:tcPr>
                </a:tc>
                <a:tc>
                  <a:txBody>
                    <a:bodyPr/>
                    <a:lstStyle/>
                    <a:p>
                      <a:pPr>
                        <a:defRPr sz="900" b="0">
                          <a:solidFill>
                            <a:srgbClr val="F0F0FF"/>
                          </a:solidFill>
                          <a:latin typeface="Calibri"/>
                        </a:defRPr>
                      </a:pPr>
                      <a:r>
                        <a:t>3 days ago for acute exacerbation of symptoms; chronic cough present for 5 years.</a:t>
                      </a:r>
                    </a:p>
                  </a:txBody>
                  <a:tcPr anchor="t" marL="64008" marR="64008" marT="27432" marB="27432">
                    <a:solidFill>
                      <a:srgbClr val="161630"/>
                    </a:solidFill>
                  </a:tcPr>
                </a:tc>
                <a:tc>
                  <a:txBody>
                    <a:bodyPr/>
                    <a:lstStyle/>
                    <a:p>
                      <a:pPr>
                        <a:defRPr sz="900" b="0">
                          <a:solidFill>
                            <a:srgbClr val="F0F0FF"/>
                          </a:solidFill>
                          <a:latin typeface="Calibri"/>
                        </a:defRPr>
                      </a:pPr>
                      <a:r>
                        <a:t>Baseline cough for approximately 5 years. Cough and sputum production worsened 3 days ago after returning home from grocery shoppi...</a:t>
                      </a:r>
                    </a:p>
                  </a:txBody>
                  <a:tcPr anchor="t" marL="64008" marR="64008" marT="27432" marB="27432">
                    <a:solidFill>
                      <a:srgbClr val="161630"/>
                    </a:solidFill>
                  </a:tcPr>
                </a:tc>
              </a:tr>
              <a:tr h="427808">
                <a:tc>
                  <a:txBody>
                    <a:bodyPr/>
                    <a:lstStyle/>
                    <a:p>
                      <a:pPr>
                        <a:defRPr sz="900" b="1">
                          <a:solidFill>
                            <a:srgbClr val="AA5CF7"/>
                          </a:solidFill>
                          <a:latin typeface="Calibri"/>
                        </a:defRPr>
                      </a:pPr>
                      <a:r>
                        <a:t>Medical History</a:t>
                      </a:r>
                    </a:p>
                  </a:txBody>
                  <a:tcPr anchor="t" marL="64008" marR="64008" marT="27432" marB="27432">
                    <a:solidFill>
                      <a:srgbClr val="1E1E3A"/>
                    </a:solidFill>
                  </a:tcPr>
                </a:tc>
                <a:tc>
                  <a:txBody>
                    <a:bodyPr/>
                    <a:lstStyle/>
                    <a:p>
                      <a:pPr>
                        <a:defRPr sz="900" b="0">
                          <a:solidFill>
                            <a:srgbClr val="F0F0FF"/>
                          </a:solidFill>
                          <a:latin typeface="Calibri"/>
                        </a:defRPr>
                      </a:pPr>
                      <a:r>
                        <a:t>Hypertension | Diabetes</a:t>
                      </a:r>
                    </a:p>
                  </a:txBody>
                  <a:tcPr anchor="t" marL="64008" marR="64008" marT="27432" marB="27432">
                    <a:solidFill>
                      <a:srgbClr val="1E1E3A"/>
                    </a:solidFill>
                  </a:tcPr>
                </a:tc>
                <a:tc>
                  <a:txBody>
                    <a:bodyPr/>
                    <a:lstStyle/>
                    <a:p>
                      <a:pPr>
                        <a:defRPr sz="900" b="0">
                          <a:solidFill>
                            <a:srgbClr val="F0F0FF"/>
                          </a:solidFill>
                          <a:latin typeface="Calibri"/>
                        </a:defRPr>
                      </a:pPr>
                      <a:r>
                        <a:t>Hypertension | Diabetes | No prior surgeries | No medication allergies | Denies ear pain, eye pain, ear/eye discharge, rhinorrhea,...</a:t>
                      </a:r>
                    </a:p>
                  </a:txBody>
                  <a:tcPr anchor="t" marL="64008" marR="64008" marT="27432" marB="27432">
                    <a:solidFill>
                      <a:srgbClr val="1E1E3A"/>
                    </a:solidFill>
                  </a:tcPr>
                </a:tc>
              </a:tr>
              <a:tr h="427808">
                <a:tc>
                  <a:txBody>
                    <a:bodyPr/>
                    <a:lstStyle/>
                    <a:p>
                      <a:pPr>
                        <a:defRPr sz="900" b="1">
                          <a:solidFill>
                            <a:srgbClr val="AA5CF7"/>
                          </a:solidFill>
                          <a:latin typeface="Calibri"/>
                        </a:defRPr>
                      </a:pPr>
                      <a:r>
                        <a:t>Curr. Medications</a:t>
                      </a:r>
                    </a:p>
                  </a:txBody>
                  <a:tcPr anchor="t" marL="64008" marR="64008" marT="27432" marB="27432">
                    <a:solidFill>
                      <a:srgbClr val="161630"/>
                    </a:solidFill>
                  </a:tcPr>
                </a:tc>
                <a:tc>
                  <a:txBody>
                    <a:bodyPr/>
                    <a:lstStyle/>
                    <a:p>
                      <a:pPr>
                        <a:defRPr sz="900" b="0">
                          <a:solidFill>
                            <a:srgbClr val="F0F0FF"/>
                          </a:solidFill>
                          <a:latin typeface="Calibri"/>
                        </a:defRPr>
                      </a:pPr>
                      <a:r>
                        <a:t>Beta-blocker | Metformin | Calcium supplement | Vitamin D</a:t>
                      </a:r>
                    </a:p>
                  </a:txBody>
                  <a:tcPr anchor="t" marL="64008" marR="64008" marT="27432" marB="27432">
                    <a:solidFill>
                      <a:srgbClr val="161630"/>
                    </a:solidFill>
                  </a:tcPr>
                </a:tc>
                <a:tc>
                  <a:txBody>
                    <a:bodyPr/>
                    <a:lstStyle/>
                    <a:p>
                      <a:pPr>
                        <a:defRPr sz="900" b="0">
                          <a:solidFill>
                            <a:srgbClr val="F0F0FF"/>
                          </a:solidFill>
                          <a:latin typeface="Calibri"/>
                        </a:defRPr>
                      </a:pPr>
                      <a:r>
                        <a:t>Beta blocker (unspecified) for hypertension | Metformin for diabetes | Calcium supplement | Vitamin D supplement</a:t>
                      </a:r>
                    </a:p>
                  </a:txBody>
                  <a:tcPr anchor="t" marL="64008" marR="64008" marT="27432" marB="27432">
                    <a:solidFill>
                      <a:srgbClr val="161630"/>
                    </a:solidFill>
                  </a:tcPr>
                </a:tc>
              </a:tr>
              <a:tr h="427808">
                <a:tc>
                  <a:txBody>
                    <a:bodyPr/>
                    <a:lstStyle/>
                    <a:p>
                      <a:pPr>
                        <a:defRPr sz="900" b="1">
                          <a:solidFill>
                            <a:srgbClr val="AA5CF7"/>
                          </a:solidFill>
                          <a:latin typeface="Calibri"/>
                        </a:defRPr>
                      </a:pPr>
                      <a:r>
                        <a:t>Allergies</a:t>
                      </a:r>
                    </a:p>
                  </a:txBody>
                  <a:tcPr anchor="t" marL="64008" marR="64008" marT="27432" marB="27432">
                    <a:solidFill>
                      <a:srgbClr val="1E1E3A"/>
                    </a:solidFill>
                  </a:tcPr>
                </a:tc>
                <a:tc>
                  <a:txBody>
                    <a:bodyPr/>
                    <a:lstStyle/>
                    <a:p>
                      <a:pPr>
                        <a:defRPr sz="900" b="0">
                          <a:solidFill>
                            <a:srgbClr val="F0F0FF"/>
                          </a:solidFill>
                          <a:latin typeface="Calibri"/>
                        </a:defRPr>
                      </a:pPr>
                      <a:r>
                        <a:t>—</a:t>
                      </a:r>
                    </a:p>
                  </a:txBody>
                  <a:tcPr anchor="t" marL="64008" marR="64008" marT="27432" marB="27432">
                    <a:solidFill>
                      <a:srgbClr val="1E1E3A"/>
                    </a:solidFill>
                  </a:tcPr>
                </a:tc>
                <a:tc>
                  <a:txBody>
                    <a:bodyPr/>
                    <a:lstStyle/>
                    <a:p>
                      <a:pPr>
                        <a:defRPr sz="900" b="0">
                          <a:solidFill>
                            <a:srgbClr val="F0F0FF"/>
                          </a:solidFill>
                          <a:latin typeface="Calibri"/>
                        </a:defRPr>
                      </a:pPr>
                      <a:r>
                        <a:t>No known medication allergies</a:t>
                      </a:r>
                    </a:p>
                  </a:txBody>
                  <a:tcPr anchor="t" marL="64008" marR="64008" marT="27432" marB="27432">
                    <a:solidFill>
                      <a:srgbClr val="1E1E3A"/>
                    </a:solidFill>
                  </a:tcPr>
                </a:tc>
              </a:tr>
              <a:tr h="427808">
                <a:tc>
                  <a:txBody>
                    <a:bodyPr/>
                    <a:lstStyle/>
                    <a:p>
                      <a:pPr>
                        <a:defRPr sz="900" b="1">
                          <a:solidFill>
                            <a:srgbClr val="AA5CF7"/>
                          </a:solidFill>
                          <a:latin typeface="Calibri"/>
                        </a:defRPr>
                      </a:pPr>
                      <a:r>
                        <a:t>Exam Findings</a:t>
                      </a:r>
                    </a:p>
                  </a:txBody>
                  <a:tcPr anchor="t" marL="64008" marR="64008" marT="27432" marB="27432">
                    <a:solidFill>
                      <a:srgbClr val="161630"/>
                    </a:solidFill>
                  </a:tcPr>
                </a:tc>
                <a:tc>
                  <a:txBody>
                    <a:bodyPr/>
                    <a:lstStyle/>
                    <a:p>
                      <a:pPr>
                        <a:defRPr sz="900" b="0">
                          <a:solidFill>
                            <a:srgbClr val="F0F0FF"/>
                          </a:solidFill>
                          <a:latin typeface="Calibri"/>
                        </a:defRPr>
                      </a:pPr>
                      <a:r>
                        <a:t>—</a:t>
                      </a:r>
                    </a:p>
                  </a:txBody>
                  <a:tcPr anchor="t" marL="64008" marR="64008" marT="27432" marB="27432">
                    <a:solidFill>
                      <a:srgbClr val="161630"/>
                    </a:solidFill>
                  </a:tcPr>
                </a:tc>
                <a:tc>
                  <a:txBody>
                    <a:bodyPr/>
                    <a:lstStyle/>
                    <a:p>
                      <a:pPr>
                        <a:defRPr sz="900" b="0">
                          <a:solidFill>
                            <a:srgbClr val="F0F0FF"/>
                          </a:solidFill>
                          <a:latin typeface="Calibri"/>
                        </a:defRPr>
                      </a:pPr>
                      <a:r>
                        <a:t>No physical examination findings documented in the transcript.</a:t>
                      </a:r>
                    </a:p>
                  </a:txBody>
                  <a:tcPr anchor="t" marL="64008" marR="64008" marT="27432" marB="27432">
                    <a:solidFill>
                      <a:srgbClr val="161630"/>
                    </a:solidFill>
                  </a:tcPr>
                </a:tc>
              </a:tr>
              <a:tr h="427808">
                <a:tc>
                  <a:txBody>
                    <a:bodyPr/>
                    <a:lstStyle/>
                    <a:p>
                      <a:pPr>
                        <a:defRPr sz="900" b="1">
                          <a:solidFill>
                            <a:srgbClr val="AA5CF7"/>
                          </a:solidFill>
                          <a:latin typeface="Calibri"/>
                        </a:defRPr>
                      </a:pPr>
                      <a:r>
                        <a:t>Diagnosis</a:t>
                      </a:r>
                    </a:p>
                  </a:txBody>
                  <a:tcPr anchor="t" marL="64008" marR="64008" marT="27432" marB="27432">
                    <a:solidFill>
                      <a:srgbClr val="1E1E3A"/>
                    </a:solidFill>
                  </a:tcPr>
                </a:tc>
                <a:tc>
                  <a:txBody>
                    <a:bodyPr/>
                    <a:lstStyle/>
                    <a:p>
                      <a:pPr>
                        <a:defRPr sz="900" b="0">
                          <a:solidFill>
                            <a:srgbClr val="F0F0FF"/>
                          </a:solidFill>
                          <a:latin typeface="Calibri"/>
                        </a:defRPr>
                      </a:pPr>
                      <a:r>
                        <a:t>—</a:t>
                      </a:r>
                    </a:p>
                  </a:txBody>
                  <a:tcPr anchor="t" marL="64008" marR="64008" marT="27432" marB="27432">
                    <a:solidFill>
                      <a:srgbClr val="1E1E3A"/>
                    </a:solidFill>
                  </a:tcPr>
                </a:tc>
                <a:tc>
                  <a:txBody>
                    <a:bodyPr/>
                    <a:lstStyle/>
                    <a:p>
                      <a:pPr>
                        <a:defRPr sz="900" b="0">
                          <a:solidFill>
                            <a:srgbClr val="F0F0FF"/>
                          </a:solidFill>
                          <a:latin typeface="Calibri"/>
                        </a:defRPr>
                      </a:pPr>
                      <a:r>
                        <a:t>Acute worsening of chronic productive cough with wheezing and exertional shortness of breath; etiology under investigation</a:t>
                      </a:r>
                    </a:p>
                  </a:txBody>
                  <a:tcPr anchor="t" marL="64008" marR="64008" marT="27432" marB="27432">
                    <a:solidFill>
                      <a:srgbClr val="1E1E3A"/>
                    </a:solidFill>
                  </a:tcPr>
                </a:tc>
              </a:tr>
              <a:tr h="427808">
                <a:tc>
                  <a:txBody>
                    <a:bodyPr/>
                    <a:lstStyle/>
                    <a:p>
                      <a:pPr>
                        <a:defRPr sz="900" b="1">
                          <a:solidFill>
                            <a:srgbClr val="AA5CF7"/>
                          </a:solidFill>
                          <a:latin typeface="Calibri"/>
                        </a:defRPr>
                      </a:pPr>
                      <a:r>
                        <a:t>Diff. Diagnosis</a:t>
                      </a:r>
                    </a:p>
                  </a:txBody>
                  <a:tcPr anchor="t" marL="64008" marR="64008" marT="27432" marB="27432">
                    <a:solidFill>
                      <a:srgbClr val="161630"/>
                    </a:solidFill>
                  </a:tcPr>
                </a:tc>
                <a:tc>
                  <a:txBody>
                    <a:bodyPr/>
                    <a:lstStyle/>
                    <a:p>
                      <a:pPr>
                        <a:defRPr sz="900" b="0">
                          <a:solidFill>
                            <a:srgbClr val="F0F0FF"/>
                          </a:solidFill>
                          <a:latin typeface="Calibri"/>
                        </a:defRPr>
                      </a:pPr>
                      <a:r>
                        <a:t>Viral respiratory infection | Bacterial respiratory infection | COPD exacerbation | COVID-19 infection</a:t>
                      </a:r>
                    </a:p>
                  </a:txBody>
                  <a:tcPr anchor="t" marL="64008" marR="64008" marT="27432" marB="27432">
                    <a:solidFill>
                      <a:srgbClr val="161630"/>
                    </a:solidFill>
                  </a:tcPr>
                </a:tc>
                <a:tc>
                  <a:txBody>
                    <a:bodyPr/>
                    <a:lstStyle/>
                    <a:p>
                      <a:pPr>
                        <a:defRPr sz="900" b="0">
                          <a:solidFill>
                            <a:srgbClr val="F0F0FF"/>
                          </a:solidFill>
                          <a:latin typeface="Calibri"/>
                        </a:defRPr>
                      </a:pPr>
                      <a:r>
                        <a:t>Viral respiratory infection | Bacterial respiratory infection | COPD exacerbation | COVID-19</a:t>
                      </a:r>
                    </a:p>
                  </a:txBody>
                  <a:tcPr anchor="t" marL="64008" marR="64008" marT="27432" marB="27432">
                    <a:solidFill>
                      <a:srgbClr val="161630"/>
                    </a:solidFill>
                  </a:tcPr>
                </a:tc>
              </a:tr>
              <a:tr h="427808">
                <a:tc>
                  <a:txBody>
                    <a:bodyPr/>
                    <a:lstStyle/>
                    <a:p>
                      <a:pPr>
                        <a:defRPr sz="900" b="1">
                          <a:solidFill>
                            <a:srgbClr val="AA5CF7"/>
                          </a:solidFill>
                          <a:latin typeface="Calibri"/>
                        </a:defRPr>
                      </a:pPr>
                      <a:r>
                        <a:t>Prescribed Meds</a:t>
                      </a:r>
                    </a:p>
                  </a:txBody>
                  <a:tcPr anchor="t" marL="64008" marR="64008" marT="27432" marB="27432">
                    <a:solidFill>
                      <a:srgbClr val="1E1E3A"/>
                    </a:solidFill>
                  </a:tcPr>
                </a:tc>
                <a:tc>
                  <a:txBody>
                    <a:bodyPr/>
                    <a:lstStyle/>
                    <a:p>
                      <a:pPr>
                        <a:defRPr sz="900" b="0">
                          <a:solidFill>
                            <a:srgbClr val="F0F0FF"/>
                          </a:solidFill>
                          <a:latin typeface="Calibri"/>
                        </a:defRPr>
                      </a:pPr>
                      <a:r>
                        <a:t>—</a:t>
                      </a:r>
                    </a:p>
                  </a:txBody>
                  <a:tcPr anchor="t" marL="64008" marR="64008" marT="27432" marB="27432">
                    <a:solidFill>
                      <a:srgbClr val="1E1E3A"/>
                    </a:solidFill>
                  </a:tcPr>
                </a:tc>
                <a:tc>
                  <a:txBody>
                    <a:bodyPr/>
                    <a:lstStyle/>
                    <a:p>
                      <a:pPr>
                        <a:defRPr sz="900" b="0">
                          <a:solidFill>
                            <a:srgbClr val="F0F0FF"/>
                          </a:solidFill>
                          <a:latin typeface="Calibri"/>
                        </a:defRPr>
                      </a:pPr>
                      <a:r>
                        <a:t>—</a:t>
                      </a:r>
                    </a:p>
                  </a:txBody>
                  <a:tcPr anchor="t" marL="64008" marR="64008" marT="27432" marB="27432">
                    <a:solidFill>
                      <a:srgbClr val="1E1E3A"/>
                    </a:solidFill>
                  </a:tcPr>
                </a:tc>
              </a:tr>
              <a:tr h="427808">
                <a:tc>
                  <a:txBody>
                    <a:bodyPr/>
                    <a:lstStyle/>
                    <a:p>
                      <a:pPr>
                        <a:defRPr sz="900" b="1">
                          <a:solidFill>
                            <a:srgbClr val="AA5CF7"/>
                          </a:solidFill>
                          <a:latin typeface="Calibri"/>
                        </a:defRPr>
                      </a:pPr>
                      <a:r>
                        <a:t>Treatment Plan</a:t>
                      </a:r>
                    </a:p>
                  </a:txBody>
                  <a:tcPr anchor="t" marL="64008" marR="64008" marT="27432" marB="27432">
                    <a:solidFill>
                      <a:srgbClr val="161630"/>
                    </a:solidFill>
                  </a:tcPr>
                </a:tc>
                <a:tc>
                  <a:txBody>
                    <a:bodyPr/>
                    <a:lstStyle/>
                    <a:p>
                      <a:pPr>
                        <a:defRPr sz="900" b="0">
                          <a:solidFill>
                            <a:srgbClr val="F0F0FF"/>
                          </a:solidFill>
                          <a:latin typeface="Calibri"/>
                        </a:defRPr>
                      </a:pPr>
                      <a:r>
                        <a:t>Diagnostic workup to determine etiology of acute respiratory exacerbation.</a:t>
                      </a:r>
                    </a:p>
                  </a:txBody>
                  <a:tcPr anchor="t" marL="64008" marR="64008" marT="27432" marB="27432">
                    <a:solidFill>
                      <a:srgbClr val="161630"/>
                    </a:solidFill>
                  </a:tcPr>
                </a:tc>
                <a:tc>
                  <a:txBody>
                    <a:bodyPr/>
                    <a:lstStyle/>
                    <a:p>
                      <a:pPr>
                        <a:defRPr sz="900" b="0">
                          <a:solidFill>
                            <a:srgbClr val="F0F0FF"/>
                          </a:solidFill>
                          <a:latin typeface="Calibri"/>
                        </a:defRPr>
                      </a:pPr>
                      <a:r>
                        <a:t>Arrange pneumococcal vaccination with family doctor, as recommended for adults older than 65 in Ontario to protect against certain...</a:t>
                      </a:r>
                    </a:p>
                  </a:txBody>
                  <a:tcPr anchor="t" marL="64008" marR="64008" marT="27432" marB="27432">
                    <a:solidFill>
                      <a:srgbClr val="161630"/>
                    </a:solidFill>
                  </a:tcPr>
                </a:tc>
              </a:tr>
              <a:tr h="427808">
                <a:tc>
                  <a:txBody>
                    <a:bodyPr/>
                    <a:lstStyle/>
                    <a:p>
                      <a:pPr>
                        <a:defRPr sz="900" b="1">
                          <a:solidFill>
                            <a:srgbClr val="AA5CF7"/>
                          </a:solidFill>
                          <a:latin typeface="Calibri"/>
                        </a:defRPr>
                      </a:pPr>
                      <a:r>
                        <a:t>Investigations</a:t>
                      </a:r>
                    </a:p>
                  </a:txBody>
                  <a:tcPr anchor="t" marL="64008" marR="64008" marT="27432" marB="27432">
                    <a:solidFill>
                      <a:srgbClr val="1E1E3A"/>
                    </a:solidFill>
                  </a:tcPr>
                </a:tc>
                <a:tc>
                  <a:txBody>
                    <a:bodyPr/>
                    <a:lstStyle/>
                    <a:p>
                      <a:pPr>
                        <a:defRPr sz="900" b="0">
                          <a:solidFill>
                            <a:srgbClr val="F0F0FF"/>
                          </a:solidFill>
                          <a:latin typeface="Calibri"/>
                        </a:defRPr>
                      </a:pPr>
                      <a:r>
                        <a:t>COVID-19 PCR nasal swab | Chest X-ray | Other laboratory/diagnostic investigations</a:t>
                      </a:r>
                    </a:p>
                  </a:txBody>
                  <a:tcPr anchor="t" marL="64008" marR="64008" marT="27432" marB="27432">
                    <a:solidFill>
                      <a:srgbClr val="1E1E3A"/>
                    </a:solidFill>
                  </a:tcPr>
                </a:tc>
                <a:tc>
                  <a:txBody>
                    <a:bodyPr/>
                    <a:lstStyle/>
                    <a:p>
                      <a:pPr>
                        <a:defRPr sz="900" b="0">
                          <a:solidFill>
                            <a:srgbClr val="F0F0FF"/>
                          </a:solidFill>
                          <a:latin typeface="Calibri"/>
                        </a:defRPr>
                      </a:pPr>
                      <a:r>
                        <a:t>COVID-19 PCR nasal swab | Chest X-ray | Other unspecified investigations</a:t>
                      </a:r>
                    </a:p>
                  </a:txBody>
                  <a:tcPr anchor="t" marL="64008" marR="64008" marT="27432" marB="27432">
                    <a:solidFill>
                      <a:srgbClr val="1E1E3A"/>
                    </a:solidFill>
                  </a:tcPr>
                </a:tc>
              </a:tr>
              <a:tr h="427816">
                <a:tc>
                  <a:txBody>
                    <a:bodyPr/>
                    <a:lstStyle/>
                    <a:p>
                      <a:pPr>
                        <a:defRPr sz="900" b="1">
                          <a:solidFill>
                            <a:srgbClr val="AA5CF7"/>
                          </a:solidFill>
                          <a:latin typeface="Calibri"/>
                        </a:defRPr>
                      </a:pPr>
                      <a:r>
                        <a:t>Follow Up</a:t>
                      </a:r>
                    </a:p>
                  </a:txBody>
                  <a:tcPr anchor="t" marL="64008" marR="64008" marT="27432" marB="27432">
                    <a:solidFill>
                      <a:srgbClr val="161630"/>
                    </a:solidFill>
                  </a:tcPr>
                </a:tc>
                <a:tc>
                  <a:txBody>
                    <a:bodyPr/>
                    <a:lstStyle/>
                    <a:p>
                      <a:pPr>
                        <a:defRPr sz="900" b="0">
                          <a:solidFill>
                            <a:srgbClr val="F0F0FF"/>
                          </a:solidFill>
                          <a:latin typeface="Calibri"/>
                        </a:defRPr>
                      </a:pPr>
                      <a:r>
                        <a:t>Set up pneumococcal vaccination with family doctor; follow up for investigation results to get to the bottom of shortness of breat...</a:t>
                      </a:r>
                    </a:p>
                  </a:txBody>
                  <a:tcPr anchor="t" marL="64008" marR="64008" marT="27432" marB="27432">
                    <a:solidFill>
                      <a:srgbClr val="161630"/>
                    </a:solidFill>
                  </a:tcPr>
                </a:tc>
                <a:tc>
                  <a:txBody>
                    <a:bodyPr/>
                    <a:lstStyle/>
                    <a:p>
                      <a:pPr>
                        <a:defRPr sz="900" b="0">
                          <a:solidFill>
                            <a:srgbClr val="F0F0FF"/>
                          </a:solidFill>
                          <a:latin typeface="Calibri"/>
                        </a:defRPr>
                      </a:pPr>
                      <a:r>
                        <a:t>No specific return precautions or follow-up timeframe were provided; patient was advised to arrange pneumococcal vaccination with ...</a:t>
                      </a:r>
                    </a:p>
                  </a:txBody>
                  <a:tcPr anchor="t" marL="64008" marR="64008" marT="27432" marB="27432">
                    <a:solidFill>
                      <a:srgbClr val="161630"/>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AA5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914400"/>
            <a:ext cx="10332720" cy="685800"/>
          </a:xfrm>
          <a:prstGeom prst="rect">
            <a:avLst/>
          </a:prstGeom>
          <a:noFill/>
        </p:spPr>
        <p:txBody>
          <a:bodyPr wrap="square">
            <a:spAutoFit/>
          </a:bodyPr>
          <a:lstStyle/>
          <a:p>
            <a:pPr algn="ctr">
              <a:defRPr sz="4200" b="1">
                <a:solidFill>
                  <a:srgbClr val="AA5CF7"/>
                </a:solidFill>
                <a:latin typeface="Calibri"/>
              </a:defRPr>
            </a:pPr>
            <a:r>
              <a:t>Case Study: GAS0003</a:t>
            </a:r>
          </a:p>
        </p:txBody>
      </p:sp>
      <p:sp>
        <p:nvSpPr>
          <p:cNvPr id="4" name="TextBox 3"/>
          <p:cNvSpPr txBox="1"/>
          <p:nvPr/>
        </p:nvSpPr>
        <p:spPr>
          <a:xfrm>
            <a:off x="914400" y="1691640"/>
            <a:ext cx="10332720" cy="457200"/>
          </a:xfrm>
          <a:prstGeom prst="rect">
            <a:avLst/>
          </a:prstGeom>
          <a:noFill/>
        </p:spPr>
        <p:txBody>
          <a:bodyPr wrap="square">
            <a:spAutoFit/>
          </a:bodyPr>
          <a:lstStyle/>
          <a:p>
            <a:pPr algn="ctr">
              <a:defRPr sz="2200" b="0">
                <a:solidFill>
                  <a:srgbClr val="F0F0FF"/>
                </a:solidFill>
                <a:latin typeface="Calibri"/>
              </a:defRPr>
            </a:pPr>
            <a:r>
              <a:t>Gastroenterology — Abdominal Pain</a:t>
            </a:r>
          </a:p>
        </p:txBody>
      </p:sp>
      <p:sp>
        <p:nvSpPr>
          <p:cNvPr id="5" name="TextBox 4"/>
          <p:cNvSpPr txBox="1"/>
          <p:nvPr/>
        </p:nvSpPr>
        <p:spPr>
          <a:xfrm>
            <a:off x="914400" y="2240280"/>
            <a:ext cx="10332720" cy="365760"/>
          </a:xfrm>
          <a:prstGeom prst="rect">
            <a:avLst/>
          </a:prstGeom>
          <a:noFill/>
        </p:spPr>
        <p:txBody>
          <a:bodyPr wrap="square">
            <a:spAutoFit/>
          </a:bodyPr>
          <a:lstStyle/>
          <a:p>
            <a:pPr algn="ctr">
              <a:defRPr sz="1600" b="0">
                <a:solidFill>
                  <a:srgbClr val="8888AA"/>
                </a:solidFill>
                <a:latin typeface="Calibri"/>
              </a:defRPr>
            </a:pPr>
            <a:r>
              <a:t>SOAP Extraction Analysis  ·  GPT-5.6 Terra</a:t>
            </a:r>
          </a:p>
        </p:txBody>
      </p:sp>
      <p:sp>
        <p:nvSpPr>
          <p:cNvPr id="6" name="Rounded Rectangle 5"/>
          <p:cNvSpPr/>
          <p:nvPr/>
        </p:nvSpPr>
        <p:spPr>
          <a:xfrm>
            <a:off x="1097280" y="3017520"/>
            <a:ext cx="2286000" cy="777240"/>
          </a:xfrm>
          <a:prstGeom prst="roundRect">
            <a:avLst>
              <a:gd name="adj" fmla="val 4000"/>
            </a:avLst>
          </a:prstGeom>
          <a:solidFill>
            <a:srgbClr val="14142E"/>
          </a:solidFill>
          <a:ln w="9525">
            <a:solidFill>
              <a:srgbClr val="282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3090672"/>
            <a:ext cx="2286000" cy="320040"/>
          </a:xfrm>
          <a:prstGeom prst="rect">
            <a:avLst/>
          </a:prstGeom>
          <a:noFill/>
        </p:spPr>
        <p:txBody>
          <a:bodyPr wrap="square">
            <a:spAutoFit/>
          </a:bodyPr>
          <a:lstStyle/>
          <a:p>
            <a:pPr algn="ctr">
              <a:defRPr sz="1100" b="0">
                <a:solidFill>
                  <a:srgbClr val="8888AA"/>
                </a:solidFill>
                <a:latin typeface="Calibri"/>
              </a:defRPr>
            </a:pPr>
            <a:r>
              <a:t>Clinical Fidelity</a:t>
            </a:r>
          </a:p>
        </p:txBody>
      </p:sp>
      <p:sp>
        <p:nvSpPr>
          <p:cNvPr id="8" name="TextBox 7"/>
          <p:cNvSpPr txBox="1"/>
          <p:nvPr/>
        </p:nvSpPr>
        <p:spPr>
          <a:xfrm>
            <a:off x="1097280" y="3401568"/>
            <a:ext cx="2286000" cy="384048"/>
          </a:xfrm>
          <a:prstGeom prst="rect">
            <a:avLst/>
          </a:prstGeom>
          <a:noFill/>
        </p:spPr>
        <p:txBody>
          <a:bodyPr wrap="square">
            <a:spAutoFit/>
          </a:bodyPr>
          <a:lstStyle/>
          <a:p>
            <a:pPr algn="ctr">
              <a:defRPr sz="2400" b="1">
                <a:solidFill>
                  <a:srgbClr val="AA5CF7"/>
                </a:solidFill>
                <a:latin typeface="Calibri"/>
              </a:defRPr>
            </a:pPr>
            <a:r>
              <a:t>95%</a:t>
            </a:r>
          </a:p>
        </p:txBody>
      </p:sp>
      <p:sp>
        <p:nvSpPr>
          <p:cNvPr id="9" name="Rounded Rectangle 8"/>
          <p:cNvSpPr/>
          <p:nvPr/>
        </p:nvSpPr>
        <p:spPr>
          <a:xfrm>
            <a:off x="3688080" y="3017520"/>
            <a:ext cx="2286000" cy="777240"/>
          </a:xfrm>
          <a:prstGeom prst="roundRect">
            <a:avLst>
              <a:gd name="adj" fmla="val 4000"/>
            </a:avLst>
          </a:prstGeom>
          <a:solidFill>
            <a:srgbClr val="14142E"/>
          </a:solidFill>
          <a:ln w="9525">
            <a:solidFill>
              <a:srgbClr val="282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88080" y="3090672"/>
            <a:ext cx="2286000" cy="320040"/>
          </a:xfrm>
          <a:prstGeom prst="rect">
            <a:avLst/>
          </a:prstGeom>
          <a:noFill/>
        </p:spPr>
        <p:txBody>
          <a:bodyPr wrap="square">
            <a:spAutoFit/>
          </a:bodyPr>
          <a:lstStyle/>
          <a:p>
            <a:pPr algn="ctr">
              <a:defRPr sz="1100" b="0">
                <a:solidFill>
                  <a:srgbClr val="8888AA"/>
                </a:solidFill>
                <a:latin typeface="Calibri"/>
              </a:defRPr>
            </a:pPr>
            <a:r>
              <a:t>Logical Consistency</a:t>
            </a:r>
          </a:p>
        </p:txBody>
      </p:sp>
      <p:sp>
        <p:nvSpPr>
          <p:cNvPr id="11" name="TextBox 10"/>
          <p:cNvSpPr txBox="1"/>
          <p:nvPr/>
        </p:nvSpPr>
        <p:spPr>
          <a:xfrm>
            <a:off x="3688080" y="3401568"/>
            <a:ext cx="2286000" cy="384048"/>
          </a:xfrm>
          <a:prstGeom prst="rect">
            <a:avLst/>
          </a:prstGeom>
          <a:noFill/>
        </p:spPr>
        <p:txBody>
          <a:bodyPr wrap="square">
            <a:spAutoFit/>
          </a:bodyPr>
          <a:lstStyle/>
          <a:p>
            <a:pPr algn="ctr">
              <a:defRPr sz="2400" b="1">
                <a:solidFill>
                  <a:srgbClr val="AA5CF7"/>
                </a:solidFill>
                <a:latin typeface="Calibri"/>
              </a:defRPr>
            </a:pPr>
            <a:r>
              <a:t>95%</a:t>
            </a:r>
          </a:p>
        </p:txBody>
      </p:sp>
      <p:sp>
        <p:nvSpPr>
          <p:cNvPr id="12" name="Rounded Rectangle 11"/>
          <p:cNvSpPr/>
          <p:nvPr/>
        </p:nvSpPr>
        <p:spPr>
          <a:xfrm>
            <a:off x="6278880" y="3017520"/>
            <a:ext cx="2286000" cy="777240"/>
          </a:xfrm>
          <a:prstGeom prst="roundRect">
            <a:avLst>
              <a:gd name="adj" fmla="val 4000"/>
            </a:avLst>
          </a:prstGeom>
          <a:solidFill>
            <a:srgbClr val="14142E"/>
          </a:solidFill>
          <a:ln w="9525">
            <a:solidFill>
              <a:srgbClr val="282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78880" y="3090672"/>
            <a:ext cx="2286000" cy="320040"/>
          </a:xfrm>
          <a:prstGeom prst="rect">
            <a:avLst/>
          </a:prstGeom>
          <a:noFill/>
        </p:spPr>
        <p:txBody>
          <a:bodyPr wrap="square">
            <a:spAutoFit/>
          </a:bodyPr>
          <a:lstStyle/>
          <a:p>
            <a:pPr algn="ctr">
              <a:defRPr sz="1100" b="0">
                <a:solidFill>
                  <a:srgbClr val="8888AA"/>
                </a:solidFill>
                <a:latin typeface="Calibri"/>
              </a:defRPr>
            </a:pPr>
            <a:r>
              <a:t>SOAP Structural Fidelity</a:t>
            </a:r>
          </a:p>
        </p:txBody>
      </p:sp>
      <p:sp>
        <p:nvSpPr>
          <p:cNvPr id="14" name="TextBox 13"/>
          <p:cNvSpPr txBox="1"/>
          <p:nvPr/>
        </p:nvSpPr>
        <p:spPr>
          <a:xfrm>
            <a:off x="6278880" y="3401568"/>
            <a:ext cx="2286000" cy="384048"/>
          </a:xfrm>
          <a:prstGeom prst="rect">
            <a:avLst/>
          </a:prstGeom>
          <a:noFill/>
        </p:spPr>
        <p:txBody>
          <a:bodyPr wrap="square">
            <a:spAutoFit/>
          </a:bodyPr>
          <a:lstStyle/>
          <a:p>
            <a:pPr algn="ctr">
              <a:defRPr sz="2400" b="1">
                <a:solidFill>
                  <a:srgbClr val="AA5CF7"/>
                </a:solidFill>
                <a:latin typeface="Calibri"/>
              </a:defRPr>
            </a:pPr>
            <a:r>
              <a:t>90%</a:t>
            </a:r>
          </a:p>
        </p:txBody>
      </p:sp>
      <p:sp>
        <p:nvSpPr>
          <p:cNvPr id="15" name="Rounded Rectangle 14"/>
          <p:cNvSpPr/>
          <p:nvPr/>
        </p:nvSpPr>
        <p:spPr>
          <a:xfrm>
            <a:off x="8869680" y="3017520"/>
            <a:ext cx="2286000" cy="777240"/>
          </a:xfrm>
          <a:prstGeom prst="roundRect">
            <a:avLst>
              <a:gd name="adj" fmla="val 4000"/>
            </a:avLst>
          </a:prstGeom>
          <a:solidFill>
            <a:srgbClr val="14142E"/>
          </a:solidFill>
          <a:ln w="9525">
            <a:solidFill>
              <a:srgbClr val="282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69680" y="3090672"/>
            <a:ext cx="2286000" cy="320040"/>
          </a:xfrm>
          <a:prstGeom prst="rect">
            <a:avLst/>
          </a:prstGeom>
          <a:noFill/>
        </p:spPr>
        <p:txBody>
          <a:bodyPr wrap="square">
            <a:spAutoFit/>
          </a:bodyPr>
          <a:lstStyle/>
          <a:p>
            <a:pPr algn="ctr">
              <a:defRPr sz="1100" b="0">
                <a:solidFill>
                  <a:srgbClr val="8888AA"/>
                </a:solidFill>
                <a:latin typeface="Calibri"/>
              </a:defRPr>
            </a:pPr>
            <a:r>
              <a:t>Overall Average</a:t>
            </a:r>
          </a:p>
        </p:txBody>
      </p:sp>
      <p:sp>
        <p:nvSpPr>
          <p:cNvPr id="17" name="TextBox 16"/>
          <p:cNvSpPr txBox="1"/>
          <p:nvPr/>
        </p:nvSpPr>
        <p:spPr>
          <a:xfrm>
            <a:off x="8869680" y="3401568"/>
            <a:ext cx="2286000" cy="384048"/>
          </a:xfrm>
          <a:prstGeom prst="rect">
            <a:avLst/>
          </a:prstGeom>
          <a:noFill/>
        </p:spPr>
        <p:txBody>
          <a:bodyPr wrap="square">
            <a:spAutoFit/>
          </a:bodyPr>
          <a:lstStyle/>
          <a:p>
            <a:pPr algn="ctr">
              <a:defRPr sz="2400" b="1">
                <a:solidFill>
                  <a:srgbClr val="FFCC00"/>
                </a:solidFill>
                <a:latin typeface="Calibri"/>
              </a:defRPr>
            </a:pPr>
            <a:r>
              <a:t>93.3%</a:t>
            </a:r>
          </a:p>
        </p:txBody>
      </p:sp>
      <p:sp>
        <p:nvSpPr>
          <p:cNvPr id="18" name="TextBox 17"/>
          <p:cNvSpPr txBox="1"/>
          <p:nvPr/>
        </p:nvSpPr>
        <p:spPr>
          <a:xfrm>
            <a:off x="914400" y="4114800"/>
            <a:ext cx="10332720" cy="320040"/>
          </a:xfrm>
          <a:prstGeom prst="rect">
            <a:avLst/>
          </a:prstGeom>
          <a:noFill/>
        </p:spPr>
        <p:txBody>
          <a:bodyPr wrap="square">
            <a:spAutoFit/>
          </a:bodyPr>
          <a:lstStyle/>
          <a:p>
            <a:pPr algn="ctr">
              <a:defRPr sz="1200" b="0">
                <a:solidFill>
                  <a:srgbClr val="8888AA"/>
                </a:solidFill>
                <a:latin typeface="Calibri"/>
              </a:defRPr>
            </a:pPr>
            <a:r>
              <a:t>Evaluated by gemini-3.5-flash-lite  |  Scale: 0–100%  |  Paper-aligned metrics</a:t>
            </a:r>
          </a:p>
        </p:txBody>
      </p:sp>
      <p:sp>
        <p:nvSpPr>
          <p:cNvPr id="19" name="Rectangle 18"/>
          <p:cNvSpPr/>
          <p:nvPr/>
        </p:nvSpPr>
        <p:spPr>
          <a:xfrm>
            <a:off x="0" y="6675120"/>
            <a:ext cx="12191695" cy="91440"/>
          </a:xfrm>
          <a:prstGeom prst="rect">
            <a:avLst/>
          </a:prstGeom>
          <a:solidFill>
            <a:srgbClr val="AA5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TextBox 1"/>
          <p:cNvSpPr txBox="1"/>
          <p:nvPr/>
        </p:nvSpPr>
        <p:spPr>
          <a:xfrm>
            <a:off x="457200" y="182880"/>
            <a:ext cx="11247120" cy="502920"/>
          </a:xfrm>
          <a:prstGeom prst="rect">
            <a:avLst/>
          </a:prstGeom>
          <a:noFill/>
        </p:spPr>
        <p:txBody>
          <a:bodyPr wrap="square">
            <a:spAutoFit/>
          </a:bodyPr>
          <a:lstStyle/>
          <a:p>
            <a:pPr algn="l">
              <a:defRPr sz="2200" b="1">
                <a:solidFill>
                  <a:srgbClr val="AA5CF7"/>
                </a:solidFill>
                <a:latin typeface="Calibri"/>
              </a:defRPr>
            </a:pPr>
            <a:r>
              <a:t>GAS0003 — Speech-to-Text Transcript Comparison</a:t>
            </a:r>
          </a:p>
        </p:txBody>
      </p:sp>
      <p:sp>
        <p:nvSpPr>
          <p:cNvPr id="3" name="TextBox 2"/>
          <p:cNvSpPr txBox="1"/>
          <p:nvPr/>
        </p:nvSpPr>
        <p:spPr>
          <a:xfrm>
            <a:off x="457200" y="749808"/>
            <a:ext cx="11247120" cy="292608"/>
          </a:xfrm>
          <a:prstGeom prst="rect">
            <a:avLst/>
          </a:prstGeom>
          <a:noFill/>
        </p:spPr>
        <p:txBody>
          <a:bodyPr wrap="square">
            <a:spAutoFit/>
          </a:bodyPr>
          <a:lstStyle/>
          <a:p>
            <a:pPr algn="l">
              <a:defRPr sz="1300" b="0">
                <a:solidFill>
                  <a:srgbClr val="8888AA"/>
                </a:solidFill>
                <a:latin typeface="Calibri"/>
              </a:defRPr>
            </a:pPr>
            <a:r>
              <a:t>Ground Truth dialogue vs GPT-5.6 Terra diarized STT output (first ~100 words)</a:t>
            </a:r>
          </a:p>
        </p:txBody>
      </p:sp>
      <p:sp>
        <p:nvSpPr>
          <p:cNvPr id="4" name="Rounded Rectangle 3"/>
          <p:cNvSpPr/>
          <p:nvPr/>
        </p:nvSpPr>
        <p:spPr>
          <a:xfrm>
            <a:off x="274320" y="1170432"/>
            <a:ext cx="5577840" cy="5349240"/>
          </a:xfrm>
          <a:prstGeom prst="roundRect">
            <a:avLst>
              <a:gd name="adj" fmla="val 4000"/>
            </a:avLst>
          </a:prstGeom>
          <a:solidFill>
            <a:srgbClr val="14142E"/>
          </a:solidFill>
          <a:ln w="9525">
            <a:solidFill>
              <a:srgbClr val="282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335024"/>
            <a:ext cx="3474720" cy="384048"/>
          </a:xfrm>
          <a:prstGeom prst="roundRect">
            <a:avLst>
              <a:gd name="adj" fmla="val 50000"/>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300" b="1">
                <a:solidFill>
                  <a:srgbClr val="0A0A1A"/>
                </a:solidFill>
                <a:latin typeface="Calibri"/>
              </a:defRPr>
            </a:pPr>
            <a:r>
              <a:t>📄  Real Transcript (Ground Truth)</a:t>
            </a:r>
          </a:p>
        </p:txBody>
      </p:sp>
      <p:sp>
        <p:nvSpPr>
          <p:cNvPr id="6" name="TextBox 5"/>
          <p:cNvSpPr txBox="1"/>
          <p:nvPr/>
        </p:nvSpPr>
        <p:spPr>
          <a:xfrm>
            <a:off x="502920" y="1856232"/>
            <a:ext cx="5166360" cy="4434840"/>
          </a:xfrm>
          <a:prstGeom prst="rect">
            <a:avLst/>
          </a:prstGeom>
          <a:noFill/>
        </p:spPr>
        <p:txBody>
          <a:bodyPr wrap="square">
            <a:spAutoFit/>
          </a:bodyPr>
          <a:lstStyle/>
          <a:p>
            <a:pPr algn="l">
              <a:defRPr sz="1300" b="0">
                <a:solidFill>
                  <a:srgbClr val="F0F0FF"/>
                </a:solidFill>
                <a:latin typeface="Calibri"/>
              </a:defRPr>
            </a:pPr>
            <a:r>
              <a:t>D: What brings you in here today?</a:t>
            </a:r>
            <a:br/>
            <a:r>
              <a:t>P: Yeah hi, I'm I I have a pain in my belly. It started a couple hours ago.</a:t>
            </a:r>
            <a:br/>
            <a:r>
              <a:t>D: OK, and where exactly in your belly do you have this pain?</a:t>
            </a:r>
            <a:br/>
            <a:r>
              <a:t>P: It's mostly up here on the right side.</a:t>
            </a:r>
            <a:br/>
            <a:r>
              <a:t>D: The right side, OK and can you describe what kind of pain is it? Is it like a dull pain or sharp pain, an aching pain?</a:t>
            </a:r>
            <a:br/>
            <a:r>
              <a:t>...</a:t>
            </a:r>
          </a:p>
        </p:txBody>
      </p:sp>
      <p:sp>
        <p:nvSpPr>
          <p:cNvPr id="7" name="Rounded Rectangle 6"/>
          <p:cNvSpPr/>
          <p:nvPr/>
        </p:nvSpPr>
        <p:spPr>
          <a:xfrm>
            <a:off x="6172200" y="1170432"/>
            <a:ext cx="5577840" cy="5349240"/>
          </a:xfrm>
          <a:prstGeom prst="roundRect">
            <a:avLst>
              <a:gd name="adj" fmla="val 4000"/>
            </a:avLst>
          </a:prstGeom>
          <a:solidFill>
            <a:srgbClr val="14142E"/>
          </a:solidFill>
          <a:ln w="9525">
            <a:solidFill>
              <a:srgbClr val="282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00800" y="1335024"/>
            <a:ext cx="3749039" cy="384048"/>
          </a:xfrm>
          <a:prstGeom prst="roundRect">
            <a:avLst>
              <a:gd name="adj" fmla="val 50000"/>
            </a:avLst>
          </a:prstGeom>
          <a:solidFill>
            <a:srgbClr val="AA5CF7"/>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300" b="1">
                <a:solidFill>
                  <a:srgbClr val="F0F0FF"/>
                </a:solidFill>
                <a:latin typeface="Calibri"/>
              </a:defRPr>
            </a:pPr>
            <a:r>
              <a:t>🤖  GPT-5.6 Terra Diarized STT</a:t>
            </a:r>
          </a:p>
        </p:txBody>
      </p:sp>
      <p:sp>
        <p:nvSpPr>
          <p:cNvPr id="9" name="TextBox 8"/>
          <p:cNvSpPr txBox="1"/>
          <p:nvPr/>
        </p:nvSpPr>
        <p:spPr>
          <a:xfrm>
            <a:off x="6400800" y="1856232"/>
            <a:ext cx="5166360" cy="4434840"/>
          </a:xfrm>
          <a:prstGeom prst="rect">
            <a:avLst/>
          </a:prstGeom>
          <a:noFill/>
        </p:spPr>
        <p:txBody>
          <a:bodyPr wrap="square">
            <a:spAutoFit/>
          </a:bodyPr>
          <a:lstStyle/>
          <a:p>
            <a:pPr algn="l">
              <a:defRPr sz="1300" b="0">
                <a:solidFill>
                  <a:srgbClr val="F0F0FF"/>
                </a:solidFill>
                <a:latin typeface="Calibri"/>
              </a:defRPr>
            </a:pPr>
            <a:r>
              <a:t>D: What brings you in here today?</a:t>
            </a:r>
            <a:br/>
            <a:r>
              <a:t>P: Yeah.</a:t>
            </a:r>
            <a:br/>
            <a:r>
              <a:t>P: Hi.</a:t>
            </a:r>
            <a:br/>
            <a:r>
              <a:t>P: I have a pain in my belly.</a:t>
            </a:r>
            <a:br/>
            <a:r>
              <a:t>P: It started a couple of hours ago.</a:t>
            </a:r>
            <a:br/>
            <a:r>
              <a:t>D: Okay.</a:t>
            </a:r>
            <a:br/>
            <a:r>
              <a:t>D: And where exactly in your belly do you have this pain?</a:t>
            </a:r>
            <a:br/>
            <a:r>
              <a:t>P: It's mostly up here on the right side.</a:t>
            </a:r>
            <a:br/>
            <a:r>
              <a:t>D: On the right side?</a:t>
            </a:r>
            <a:br/>
            <a:r>
              <a:t>P: Yeah.</a:t>
            </a:r>
            <a:br/>
            <a:r>
              <a:t>D: Okay.</a:t>
            </a:r>
            <a:br/>
            <a:r>
              <a:t>D: And can you describe what kind of pain is it?</a:t>
            </a:r>
            <a:br/>
            <a:r>
              <a:t>D: Is it like a dull pain, a sharp pain, an aching pain?</a:t>
            </a:r>
            <a:br/>
            <a:r>
              <a:t>P: I guess it's an aching pain, I'd say.</a:t>
            </a:r>
            <a:br/>
            <a:r>
              <a: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TextBox 1"/>
          <p:cNvSpPr txBox="1"/>
          <p:nvPr/>
        </p:nvSpPr>
        <p:spPr>
          <a:xfrm>
            <a:off x="457200" y="182880"/>
            <a:ext cx="11247120" cy="502920"/>
          </a:xfrm>
          <a:prstGeom prst="rect">
            <a:avLst/>
          </a:prstGeom>
          <a:noFill/>
        </p:spPr>
        <p:txBody>
          <a:bodyPr wrap="square">
            <a:spAutoFit/>
          </a:bodyPr>
          <a:lstStyle/>
          <a:p>
            <a:pPr algn="l">
              <a:defRPr sz="2200" b="1">
                <a:solidFill>
                  <a:srgbClr val="AA5CF7"/>
                </a:solidFill>
                <a:latin typeface="Calibri"/>
              </a:defRPr>
            </a:pPr>
            <a:r>
              <a:t>GAS0003 — Clinical Summary Comparison</a:t>
            </a:r>
          </a:p>
        </p:txBody>
      </p:sp>
      <p:sp>
        <p:nvSpPr>
          <p:cNvPr id="3" name="TextBox 2"/>
          <p:cNvSpPr txBox="1"/>
          <p:nvPr/>
        </p:nvSpPr>
        <p:spPr>
          <a:xfrm>
            <a:off x="457200" y="749808"/>
            <a:ext cx="11247120" cy="292608"/>
          </a:xfrm>
          <a:prstGeom prst="rect">
            <a:avLst/>
          </a:prstGeom>
          <a:noFill/>
        </p:spPr>
        <p:txBody>
          <a:bodyPr wrap="square">
            <a:spAutoFit/>
          </a:bodyPr>
          <a:lstStyle/>
          <a:p>
            <a:pPr algn="l">
              <a:defRPr sz="1300" b="0">
                <a:solidFill>
                  <a:srgbClr val="8888AA"/>
                </a:solidFill>
                <a:latin typeface="Calibri"/>
              </a:defRPr>
            </a:pPr>
            <a:r>
              <a:t>AI-extracted clinical summary: Ground Truth vs GPT-5.6 Terra (first ~100 words)</a:t>
            </a:r>
          </a:p>
        </p:txBody>
      </p:sp>
      <p:sp>
        <p:nvSpPr>
          <p:cNvPr id="4" name="Rounded Rectangle 3"/>
          <p:cNvSpPr/>
          <p:nvPr/>
        </p:nvSpPr>
        <p:spPr>
          <a:xfrm>
            <a:off x="274320" y="1170432"/>
            <a:ext cx="5577840" cy="5349240"/>
          </a:xfrm>
          <a:prstGeom prst="roundRect">
            <a:avLst>
              <a:gd name="adj" fmla="val 4000"/>
            </a:avLst>
          </a:prstGeom>
          <a:solidFill>
            <a:srgbClr val="14142E"/>
          </a:solidFill>
          <a:ln w="9525">
            <a:solidFill>
              <a:srgbClr val="282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335024"/>
            <a:ext cx="3291840" cy="384048"/>
          </a:xfrm>
          <a:prstGeom prst="roundRect">
            <a:avLst>
              <a:gd name="adj" fmla="val 50000"/>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300" b="1">
                <a:solidFill>
                  <a:srgbClr val="0A0A1A"/>
                </a:solidFill>
                <a:latin typeface="Calibri"/>
              </a:defRPr>
            </a:pPr>
            <a:r>
              <a:t>📄  Ground Truth Summary</a:t>
            </a:r>
          </a:p>
        </p:txBody>
      </p:sp>
      <p:sp>
        <p:nvSpPr>
          <p:cNvPr id="6" name="TextBox 5"/>
          <p:cNvSpPr txBox="1"/>
          <p:nvPr/>
        </p:nvSpPr>
        <p:spPr>
          <a:xfrm>
            <a:off x="502920" y="1856232"/>
            <a:ext cx="5166360" cy="4434840"/>
          </a:xfrm>
          <a:prstGeom prst="rect">
            <a:avLst/>
          </a:prstGeom>
          <a:noFill/>
        </p:spPr>
        <p:txBody>
          <a:bodyPr wrap="square">
            <a:spAutoFit/>
          </a:bodyPr>
          <a:lstStyle/>
          <a:p>
            <a:pPr algn="l">
              <a:defRPr sz="1300" b="0">
                <a:solidFill>
                  <a:srgbClr val="F0F0FF"/>
                </a:solidFill>
                <a:latin typeface="Calibri"/>
              </a:defRPr>
            </a:pPr>
            <a:r>
              <a:t>Patient is presenting with a constant, aching right-sided abdominal pain that has persisted for 6 hours after an initial 2-hour period of intermittent pain. The patient reports a history of similar postprandial discomfort associated with fatty meals and is currently experiencing nausea but no vomiting, fevers, or bowel changes.</a:t>
            </a:r>
          </a:p>
        </p:txBody>
      </p:sp>
      <p:sp>
        <p:nvSpPr>
          <p:cNvPr id="7" name="Rounded Rectangle 6"/>
          <p:cNvSpPr/>
          <p:nvPr/>
        </p:nvSpPr>
        <p:spPr>
          <a:xfrm>
            <a:off x="6172200" y="1170432"/>
            <a:ext cx="5577840" cy="5349240"/>
          </a:xfrm>
          <a:prstGeom prst="roundRect">
            <a:avLst>
              <a:gd name="adj" fmla="val 4000"/>
            </a:avLst>
          </a:prstGeom>
          <a:solidFill>
            <a:srgbClr val="14142E"/>
          </a:solidFill>
          <a:ln w="9525">
            <a:solidFill>
              <a:srgbClr val="282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00800" y="1335024"/>
            <a:ext cx="3474720" cy="384048"/>
          </a:xfrm>
          <a:prstGeom prst="roundRect">
            <a:avLst>
              <a:gd name="adj" fmla="val 50000"/>
            </a:avLst>
          </a:prstGeom>
          <a:solidFill>
            <a:srgbClr val="AA5CF7"/>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300" b="1">
                <a:solidFill>
                  <a:srgbClr val="F0F0FF"/>
                </a:solidFill>
                <a:latin typeface="Calibri"/>
              </a:defRPr>
            </a:pPr>
            <a:r>
              <a:t>🤖  GPT-5.6 Terra Summary</a:t>
            </a:r>
          </a:p>
        </p:txBody>
      </p:sp>
      <p:sp>
        <p:nvSpPr>
          <p:cNvPr id="9" name="TextBox 8"/>
          <p:cNvSpPr txBox="1"/>
          <p:nvPr/>
        </p:nvSpPr>
        <p:spPr>
          <a:xfrm>
            <a:off x="6400800" y="1856232"/>
            <a:ext cx="5166360" cy="4434840"/>
          </a:xfrm>
          <a:prstGeom prst="rect">
            <a:avLst/>
          </a:prstGeom>
          <a:noFill/>
        </p:spPr>
        <p:txBody>
          <a:bodyPr wrap="square">
            <a:spAutoFit/>
          </a:bodyPr>
          <a:lstStyle/>
          <a:p>
            <a:pPr algn="l">
              <a:defRPr sz="1300" b="0">
                <a:solidFill>
                  <a:srgbClr val="F0F0FF"/>
                </a:solidFill>
                <a:latin typeface="Calibri"/>
              </a:defRPr>
            </a:pPr>
            <a:r>
              <a:t>Patient presents with severe, worsening right upper abdominal aching pain that began about eight hours ago, initially intermittent but constant for the past five to six hours. Pain is rated 8/10, worsens with eating, and is associated with mild nausea, reduced food intake, and mild fatigue; the patient reports similar intermittent postprandial episodes after fatty foods in the past.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TextBox 1"/>
          <p:cNvSpPr txBox="1"/>
          <p:nvPr/>
        </p:nvSpPr>
        <p:spPr>
          <a:xfrm>
            <a:off x="365760" y="137160"/>
            <a:ext cx="11430000" cy="457200"/>
          </a:xfrm>
          <a:prstGeom prst="rect">
            <a:avLst/>
          </a:prstGeom>
          <a:noFill/>
        </p:spPr>
        <p:txBody>
          <a:bodyPr wrap="square">
            <a:spAutoFit/>
          </a:bodyPr>
          <a:lstStyle/>
          <a:p>
            <a:pPr algn="l">
              <a:defRPr sz="2000" b="1">
                <a:solidFill>
                  <a:srgbClr val="AA5CF7"/>
                </a:solidFill>
                <a:latin typeface="Calibri"/>
              </a:defRPr>
            </a:pPr>
            <a:r>
              <a:t>GAS0003 — Structured SOAP Report Comparison</a:t>
            </a:r>
          </a:p>
        </p:txBody>
      </p:sp>
      <p:graphicFrame>
        <p:nvGraphicFramePr>
          <p:cNvPr id="3" name="Table 2"/>
          <p:cNvGraphicFramePr>
            <a:graphicFrameLocks noGrp="1"/>
          </p:cNvGraphicFramePr>
          <p:nvPr/>
        </p:nvGraphicFramePr>
        <p:xfrm>
          <a:off x="274320" y="713232"/>
          <a:ext cx="11612880" cy="5989320"/>
        </p:xfrm>
        <a:graphic>
          <a:graphicData uri="http://schemas.openxmlformats.org/drawingml/2006/table">
            <a:tbl>
              <a:tblPr firstRow="1" bandRow="1">
                <a:tableStyleId>{5C22544A-7EE6-4342-B048-85BDC9FD1C3A}</a:tableStyleId>
              </a:tblPr>
              <a:tblGrid>
                <a:gridCol w="1691640"/>
                <a:gridCol w="4965192"/>
                <a:gridCol w="4956048"/>
              </a:tblGrid>
              <a:tr h="427808">
                <a:tc>
                  <a:txBody>
                    <a:bodyPr/>
                    <a:lstStyle/>
                    <a:p>
                      <a:pPr algn="ctr">
                        <a:defRPr sz="1100" b="1">
                          <a:solidFill>
                            <a:srgbClr val="AA5CF7"/>
                          </a:solidFill>
                          <a:latin typeface="Calibri"/>
                        </a:defRPr>
                      </a:pPr>
                      <a:r>
                        <a:t>SOAP Field</a:t>
                      </a:r>
                    </a:p>
                  </a:txBody>
                  <a:tcPr anchor="ctr">
                    <a:solidFill>
                      <a:srgbClr val="1E1E40"/>
                    </a:solidFill>
                  </a:tcPr>
                </a:tc>
                <a:tc>
                  <a:txBody>
                    <a:bodyPr/>
                    <a:lstStyle/>
                    <a:p>
                      <a:pPr algn="ctr">
                        <a:defRPr sz="1100" b="1">
                          <a:solidFill>
                            <a:srgbClr val="00E596"/>
                          </a:solidFill>
                          <a:latin typeface="Calibri"/>
                        </a:defRPr>
                      </a:pPr>
                      <a:r>
                        <a:t>Ground Truth</a:t>
                      </a:r>
                    </a:p>
                  </a:txBody>
                  <a:tcPr anchor="ctr">
                    <a:solidFill>
                      <a:srgbClr val="1E1E40"/>
                    </a:solidFill>
                  </a:tcPr>
                </a:tc>
                <a:tc>
                  <a:txBody>
                    <a:bodyPr/>
                    <a:lstStyle/>
                    <a:p>
                      <a:pPr algn="ctr">
                        <a:defRPr sz="1100" b="1">
                          <a:solidFill>
                            <a:srgbClr val="AA5CF7"/>
                          </a:solidFill>
                          <a:latin typeface="Calibri"/>
                        </a:defRPr>
                      </a:pPr>
                      <a:r>
                        <a:t>Predicted (GPT-5.6 Terra)</a:t>
                      </a:r>
                    </a:p>
                  </a:txBody>
                  <a:tcPr anchor="ctr">
                    <a:solidFill>
                      <a:srgbClr val="1E1E40"/>
                    </a:solidFill>
                  </a:tcPr>
                </a:tc>
              </a:tr>
              <a:tr h="427808">
                <a:tc>
                  <a:txBody>
                    <a:bodyPr/>
                    <a:lstStyle/>
                    <a:p>
                      <a:pPr>
                        <a:defRPr sz="900" b="1">
                          <a:solidFill>
                            <a:srgbClr val="AA5CF7"/>
                          </a:solidFill>
                          <a:latin typeface="Calibri"/>
                        </a:defRPr>
                      </a:pPr>
                      <a:r>
                        <a:t>Chief Complaint</a:t>
                      </a:r>
                    </a:p>
                  </a:txBody>
                  <a:tcPr anchor="t" marL="64008" marR="64008" marT="27432" marB="27432">
                    <a:solidFill>
                      <a:srgbClr val="161630"/>
                    </a:solidFill>
                  </a:tcPr>
                </a:tc>
                <a:tc>
                  <a:txBody>
                    <a:bodyPr/>
                    <a:lstStyle/>
                    <a:p>
                      <a:pPr>
                        <a:defRPr sz="900" b="0">
                          <a:solidFill>
                            <a:srgbClr val="F0F0FF"/>
                          </a:solidFill>
                          <a:latin typeface="Calibri"/>
                        </a:defRPr>
                      </a:pPr>
                      <a:r>
                        <a:t>right-sided abdominal pain</a:t>
                      </a:r>
                    </a:p>
                  </a:txBody>
                  <a:tcPr anchor="t" marL="64008" marR="64008" marT="27432" marB="27432">
                    <a:solidFill>
                      <a:srgbClr val="161630"/>
                    </a:solidFill>
                  </a:tcPr>
                </a:tc>
                <a:tc>
                  <a:txBody>
                    <a:bodyPr/>
                    <a:lstStyle/>
                    <a:p>
                      <a:pPr>
                        <a:defRPr sz="900" b="0">
                          <a:solidFill>
                            <a:srgbClr val="F0F0FF"/>
                          </a:solidFill>
                          <a:latin typeface="Calibri"/>
                        </a:defRPr>
                      </a:pPr>
                      <a:r>
                        <a:t>Right upper abdominal pain.</a:t>
                      </a:r>
                    </a:p>
                  </a:txBody>
                  <a:tcPr anchor="t" marL="64008" marR="64008" marT="27432" marB="27432">
                    <a:solidFill>
                      <a:srgbClr val="161630"/>
                    </a:solidFill>
                  </a:tcPr>
                </a:tc>
              </a:tr>
              <a:tr h="427808">
                <a:tc>
                  <a:txBody>
                    <a:bodyPr/>
                    <a:lstStyle/>
                    <a:p>
                      <a:pPr>
                        <a:defRPr sz="900" b="1">
                          <a:solidFill>
                            <a:srgbClr val="AA5CF7"/>
                          </a:solidFill>
                          <a:latin typeface="Calibri"/>
                        </a:defRPr>
                      </a:pPr>
                      <a:r>
                        <a:t>Symptoms</a:t>
                      </a:r>
                    </a:p>
                  </a:txBody>
                  <a:tcPr anchor="t" marL="64008" marR="64008" marT="27432" marB="27432">
                    <a:solidFill>
                      <a:srgbClr val="1E1E3A"/>
                    </a:solidFill>
                  </a:tcPr>
                </a:tc>
                <a:tc>
                  <a:txBody>
                    <a:bodyPr/>
                    <a:lstStyle/>
                    <a:p>
                      <a:pPr>
                        <a:defRPr sz="900" b="0">
                          <a:solidFill>
                            <a:srgbClr val="F0F0FF"/>
                          </a:solidFill>
                          <a:latin typeface="Calibri"/>
                        </a:defRPr>
                      </a:pPr>
                      <a:r>
                        <a:t>aching pain in right side of abdomen | nausea | fatigue | decreased appetite</a:t>
                      </a:r>
                    </a:p>
                  </a:txBody>
                  <a:tcPr anchor="t" marL="64008" marR="64008" marT="27432" marB="27432">
                    <a:solidFill>
                      <a:srgbClr val="1E1E3A"/>
                    </a:solidFill>
                  </a:tcPr>
                </a:tc>
                <a:tc>
                  <a:txBody>
                    <a:bodyPr/>
                    <a:lstStyle/>
                    <a:p>
                      <a:pPr>
                        <a:defRPr sz="900" b="0">
                          <a:solidFill>
                            <a:srgbClr val="F0F0FF"/>
                          </a:solidFill>
                          <a:latin typeface="Calibri"/>
                        </a:defRPr>
                      </a:pPr>
                      <a:r>
                        <a:t>Right upper abdominal aching pain, non-radiating, rated approximately 8/10 | Pain began about 8 hours ago while preparing to sleep...</a:t>
                      </a:r>
                    </a:p>
                  </a:txBody>
                  <a:tcPr anchor="t" marL="64008" marR="64008" marT="27432" marB="27432">
                    <a:solidFill>
                      <a:srgbClr val="1E1E3A"/>
                    </a:solidFill>
                  </a:tcPr>
                </a:tc>
              </a:tr>
              <a:tr h="427808">
                <a:tc>
                  <a:txBody>
                    <a:bodyPr/>
                    <a:lstStyle/>
                    <a:p>
                      <a:pPr>
                        <a:defRPr sz="900" b="1">
                          <a:solidFill>
                            <a:srgbClr val="AA5CF7"/>
                          </a:solidFill>
                          <a:latin typeface="Calibri"/>
                        </a:defRPr>
                      </a:pPr>
                      <a:r>
                        <a:t>Symptom Onset</a:t>
                      </a:r>
                    </a:p>
                  </a:txBody>
                  <a:tcPr anchor="t" marL="64008" marR="64008" marT="27432" marB="27432">
                    <a:solidFill>
                      <a:srgbClr val="161630"/>
                    </a:solidFill>
                  </a:tcPr>
                </a:tc>
                <a:tc>
                  <a:txBody>
                    <a:bodyPr/>
                    <a:lstStyle/>
                    <a:p>
                      <a:pPr>
                        <a:defRPr sz="900" b="0">
                          <a:solidFill>
                            <a:srgbClr val="F0F0FF"/>
                          </a:solidFill>
                          <a:latin typeface="Calibri"/>
                        </a:defRPr>
                      </a:pPr>
                      <a:r>
                        <a:t>8 hours ago</a:t>
                      </a:r>
                    </a:p>
                  </a:txBody>
                  <a:tcPr anchor="t" marL="64008" marR="64008" marT="27432" marB="27432">
                    <a:solidFill>
                      <a:srgbClr val="161630"/>
                    </a:solidFill>
                  </a:tcPr>
                </a:tc>
                <a:tc>
                  <a:txBody>
                    <a:bodyPr/>
                    <a:lstStyle/>
                    <a:p>
                      <a:pPr>
                        <a:defRPr sz="900" b="0">
                          <a:solidFill>
                            <a:srgbClr val="F0F0FF"/>
                          </a:solidFill>
                          <a:latin typeface="Calibri"/>
                        </a:defRPr>
                      </a:pPr>
                      <a:r>
                        <a:t>About 8 hours before the consultation; initially intermittent for approximately 2 hours, then constant for the past 5-6 hours.</a:t>
                      </a:r>
                    </a:p>
                  </a:txBody>
                  <a:tcPr anchor="t" marL="64008" marR="64008" marT="27432" marB="27432">
                    <a:solidFill>
                      <a:srgbClr val="161630"/>
                    </a:solidFill>
                  </a:tcPr>
                </a:tc>
              </a:tr>
              <a:tr h="427808">
                <a:tc>
                  <a:txBody>
                    <a:bodyPr/>
                    <a:lstStyle/>
                    <a:p>
                      <a:pPr>
                        <a:defRPr sz="900" b="1">
                          <a:solidFill>
                            <a:srgbClr val="AA5CF7"/>
                          </a:solidFill>
                          <a:latin typeface="Calibri"/>
                        </a:defRPr>
                      </a:pPr>
                      <a:r>
                        <a:t>Medical History</a:t>
                      </a:r>
                    </a:p>
                  </a:txBody>
                  <a:tcPr anchor="t" marL="64008" marR="64008" marT="27432" marB="27432">
                    <a:solidFill>
                      <a:srgbClr val="1E1E3A"/>
                    </a:solidFill>
                  </a:tcPr>
                </a:tc>
                <a:tc>
                  <a:txBody>
                    <a:bodyPr/>
                    <a:lstStyle/>
                    <a:p>
                      <a:pPr>
                        <a:defRPr sz="900" b="0">
                          <a:solidFill>
                            <a:srgbClr val="F0F0FF"/>
                          </a:solidFill>
                          <a:latin typeface="Calibri"/>
                        </a:defRPr>
                      </a:pPr>
                      <a:r>
                        <a:t>diabetes</a:t>
                      </a:r>
                    </a:p>
                  </a:txBody>
                  <a:tcPr anchor="t" marL="64008" marR="64008" marT="27432" marB="27432">
                    <a:solidFill>
                      <a:srgbClr val="1E1E3A"/>
                    </a:solidFill>
                  </a:tcPr>
                </a:tc>
                <a:tc>
                  <a:txBody>
                    <a:bodyPr/>
                    <a:lstStyle/>
                    <a:p>
                      <a:pPr>
                        <a:defRPr sz="900" b="0">
                          <a:solidFill>
                            <a:srgbClr val="F0F0FF"/>
                          </a:solidFill>
                          <a:latin typeface="Calibri"/>
                        </a:defRPr>
                      </a:pPr>
                      <a:r>
                        <a:t>Diabetes | No prior hospitalizations | Wisdom teeth extraction as a teenager | Family history: father had a heart attack in his 60...</a:t>
                      </a:r>
                    </a:p>
                  </a:txBody>
                  <a:tcPr anchor="t" marL="64008" marR="64008" marT="27432" marB="27432">
                    <a:solidFill>
                      <a:srgbClr val="1E1E3A"/>
                    </a:solidFill>
                  </a:tcPr>
                </a:tc>
              </a:tr>
              <a:tr h="427808">
                <a:tc>
                  <a:txBody>
                    <a:bodyPr/>
                    <a:lstStyle/>
                    <a:p>
                      <a:pPr>
                        <a:defRPr sz="900" b="1">
                          <a:solidFill>
                            <a:srgbClr val="AA5CF7"/>
                          </a:solidFill>
                          <a:latin typeface="Calibri"/>
                        </a:defRPr>
                      </a:pPr>
                      <a:r>
                        <a:t>Curr. Medications</a:t>
                      </a:r>
                    </a:p>
                  </a:txBody>
                  <a:tcPr anchor="t" marL="64008" marR="64008" marT="27432" marB="27432">
                    <a:solidFill>
                      <a:srgbClr val="161630"/>
                    </a:solidFill>
                  </a:tcPr>
                </a:tc>
                <a:tc>
                  <a:txBody>
                    <a:bodyPr/>
                    <a:lstStyle/>
                    <a:p>
                      <a:pPr>
                        <a:defRPr sz="900" b="0">
                          <a:solidFill>
                            <a:srgbClr val="F0F0FF"/>
                          </a:solidFill>
                          <a:latin typeface="Calibri"/>
                        </a:defRPr>
                      </a:pPr>
                      <a:r>
                        <a:t>metformin</a:t>
                      </a:r>
                    </a:p>
                  </a:txBody>
                  <a:tcPr anchor="t" marL="64008" marR="64008" marT="27432" marB="27432">
                    <a:solidFill>
                      <a:srgbClr val="161630"/>
                    </a:solidFill>
                  </a:tcPr>
                </a:tc>
                <a:tc>
                  <a:txBody>
                    <a:bodyPr/>
                    <a:lstStyle/>
                    <a:p>
                      <a:pPr>
                        <a:defRPr sz="900" b="0">
                          <a:solidFill>
                            <a:srgbClr val="F0F0FF"/>
                          </a:solidFill>
                          <a:latin typeface="Calibri"/>
                        </a:defRPr>
                      </a:pPr>
                      <a:r>
                        <a:t>Metformin | Acetaminophen (Tylenol), tried for current pain without relief</a:t>
                      </a:r>
                    </a:p>
                  </a:txBody>
                  <a:tcPr anchor="t" marL="64008" marR="64008" marT="27432" marB="27432">
                    <a:solidFill>
                      <a:srgbClr val="161630"/>
                    </a:solidFill>
                  </a:tcPr>
                </a:tc>
              </a:tr>
              <a:tr h="427808">
                <a:tc>
                  <a:txBody>
                    <a:bodyPr/>
                    <a:lstStyle/>
                    <a:p>
                      <a:pPr>
                        <a:defRPr sz="900" b="1">
                          <a:solidFill>
                            <a:srgbClr val="AA5CF7"/>
                          </a:solidFill>
                          <a:latin typeface="Calibri"/>
                        </a:defRPr>
                      </a:pPr>
                      <a:r>
                        <a:t>Allergies</a:t>
                      </a:r>
                    </a:p>
                  </a:txBody>
                  <a:tcPr anchor="t" marL="64008" marR="64008" marT="27432" marB="27432">
                    <a:solidFill>
                      <a:srgbClr val="1E1E3A"/>
                    </a:solidFill>
                  </a:tcPr>
                </a:tc>
                <a:tc>
                  <a:txBody>
                    <a:bodyPr/>
                    <a:lstStyle/>
                    <a:p>
                      <a:pPr>
                        <a:defRPr sz="900" b="0">
                          <a:solidFill>
                            <a:srgbClr val="F0F0FF"/>
                          </a:solidFill>
                          <a:latin typeface="Calibri"/>
                        </a:defRPr>
                      </a:pPr>
                      <a:r>
                        <a:t>—</a:t>
                      </a:r>
                    </a:p>
                  </a:txBody>
                  <a:tcPr anchor="t" marL="64008" marR="64008" marT="27432" marB="27432">
                    <a:solidFill>
                      <a:srgbClr val="1E1E3A"/>
                    </a:solidFill>
                  </a:tcPr>
                </a:tc>
                <a:tc>
                  <a:txBody>
                    <a:bodyPr/>
                    <a:lstStyle/>
                    <a:p>
                      <a:pPr>
                        <a:defRPr sz="900" b="0">
                          <a:solidFill>
                            <a:srgbClr val="F0F0FF"/>
                          </a:solidFill>
                          <a:latin typeface="Calibri"/>
                        </a:defRPr>
                      </a:pPr>
                      <a:r>
                        <a:t>No known medication allergies | No known environmental allergies</a:t>
                      </a:r>
                    </a:p>
                  </a:txBody>
                  <a:tcPr anchor="t" marL="64008" marR="64008" marT="27432" marB="27432">
                    <a:solidFill>
                      <a:srgbClr val="1E1E3A"/>
                    </a:solidFill>
                  </a:tcPr>
                </a:tc>
              </a:tr>
              <a:tr h="427808">
                <a:tc>
                  <a:txBody>
                    <a:bodyPr/>
                    <a:lstStyle/>
                    <a:p>
                      <a:pPr>
                        <a:defRPr sz="900" b="1">
                          <a:solidFill>
                            <a:srgbClr val="AA5CF7"/>
                          </a:solidFill>
                          <a:latin typeface="Calibri"/>
                        </a:defRPr>
                      </a:pPr>
                      <a:r>
                        <a:t>Exam Findings</a:t>
                      </a:r>
                    </a:p>
                  </a:txBody>
                  <a:tcPr anchor="t" marL="64008" marR="64008" marT="27432" marB="27432">
                    <a:solidFill>
                      <a:srgbClr val="161630"/>
                    </a:solidFill>
                  </a:tcPr>
                </a:tc>
                <a:tc>
                  <a:txBody>
                    <a:bodyPr/>
                    <a:lstStyle/>
                    <a:p>
                      <a:pPr>
                        <a:defRPr sz="900" b="0">
                          <a:solidFill>
                            <a:srgbClr val="F0F0FF"/>
                          </a:solidFill>
                          <a:latin typeface="Calibri"/>
                        </a:defRPr>
                      </a:pPr>
                      <a:r>
                        <a:t>—</a:t>
                      </a:r>
                    </a:p>
                  </a:txBody>
                  <a:tcPr anchor="t" marL="64008" marR="64008" marT="27432" marB="27432">
                    <a:solidFill>
                      <a:srgbClr val="161630"/>
                    </a:solidFill>
                  </a:tcPr>
                </a:tc>
                <a:tc>
                  <a:txBody>
                    <a:bodyPr/>
                    <a:lstStyle/>
                    <a:p>
                      <a:pPr>
                        <a:defRPr sz="900" b="0">
                          <a:solidFill>
                            <a:srgbClr val="F0F0FF"/>
                          </a:solidFill>
                          <a:latin typeface="Calibri"/>
                        </a:defRPr>
                      </a:pPr>
                      <a:r>
                        <a:t>—</a:t>
                      </a:r>
                    </a:p>
                  </a:txBody>
                  <a:tcPr anchor="t" marL="64008" marR="64008" marT="27432" marB="27432">
                    <a:solidFill>
                      <a:srgbClr val="161630"/>
                    </a:solidFill>
                  </a:tcPr>
                </a:tc>
              </a:tr>
              <a:tr h="427808">
                <a:tc>
                  <a:txBody>
                    <a:bodyPr/>
                    <a:lstStyle/>
                    <a:p>
                      <a:pPr>
                        <a:defRPr sz="900" b="1">
                          <a:solidFill>
                            <a:srgbClr val="AA5CF7"/>
                          </a:solidFill>
                          <a:latin typeface="Calibri"/>
                        </a:defRPr>
                      </a:pPr>
                      <a:r>
                        <a:t>Diagnosis</a:t>
                      </a:r>
                    </a:p>
                  </a:txBody>
                  <a:tcPr anchor="t" marL="64008" marR="64008" marT="27432" marB="27432">
                    <a:solidFill>
                      <a:srgbClr val="1E1E3A"/>
                    </a:solidFill>
                  </a:tcPr>
                </a:tc>
                <a:tc>
                  <a:txBody>
                    <a:bodyPr/>
                    <a:lstStyle/>
                    <a:p>
                      <a:pPr>
                        <a:defRPr sz="900" b="0">
                          <a:solidFill>
                            <a:srgbClr val="F0F0FF"/>
                          </a:solidFill>
                          <a:latin typeface="Calibri"/>
                        </a:defRPr>
                      </a:pPr>
                      <a:r>
                        <a:t>—</a:t>
                      </a:r>
                    </a:p>
                  </a:txBody>
                  <a:tcPr anchor="t" marL="64008" marR="64008" marT="27432" marB="27432">
                    <a:solidFill>
                      <a:srgbClr val="1E1E3A"/>
                    </a:solidFill>
                  </a:tcPr>
                </a:tc>
                <a:tc>
                  <a:txBody>
                    <a:bodyPr/>
                    <a:lstStyle/>
                    <a:p>
                      <a:pPr>
                        <a:defRPr sz="900" b="0">
                          <a:solidFill>
                            <a:srgbClr val="F0F0FF"/>
                          </a:solidFill>
                          <a:latin typeface="Calibri"/>
                        </a:defRPr>
                      </a:pPr>
                      <a:r>
                        <a:t>Right upper quadrant abdominal pain</a:t>
                      </a:r>
                    </a:p>
                  </a:txBody>
                  <a:tcPr anchor="t" marL="64008" marR="64008" marT="27432" marB="27432">
                    <a:solidFill>
                      <a:srgbClr val="1E1E3A"/>
                    </a:solidFill>
                  </a:tcPr>
                </a:tc>
              </a:tr>
              <a:tr h="427808">
                <a:tc>
                  <a:txBody>
                    <a:bodyPr/>
                    <a:lstStyle/>
                    <a:p>
                      <a:pPr>
                        <a:defRPr sz="900" b="1">
                          <a:solidFill>
                            <a:srgbClr val="AA5CF7"/>
                          </a:solidFill>
                          <a:latin typeface="Calibri"/>
                        </a:defRPr>
                      </a:pPr>
                      <a:r>
                        <a:t>Diff. Diagnosis</a:t>
                      </a:r>
                    </a:p>
                  </a:txBody>
                  <a:tcPr anchor="t" marL="64008" marR="64008" marT="27432" marB="27432">
                    <a:solidFill>
                      <a:srgbClr val="161630"/>
                    </a:solidFill>
                  </a:tcPr>
                </a:tc>
                <a:tc>
                  <a:txBody>
                    <a:bodyPr/>
                    <a:lstStyle/>
                    <a:p>
                      <a:pPr>
                        <a:defRPr sz="900" b="0">
                          <a:solidFill>
                            <a:srgbClr val="F0F0FF"/>
                          </a:solidFill>
                          <a:latin typeface="Calibri"/>
                        </a:defRPr>
                      </a:pPr>
                      <a:r>
                        <a:t>indigestion</a:t>
                      </a:r>
                    </a:p>
                  </a:txBody>
                  <a:tcPr anchor="t" marL="64008" marR="64008" marT="27432" marB="27432">
                    <a:solidFill>
                      <a:srgbClr val="161630"/>
                    </a:solidFill>
                  </a:tcPr>
                </a:tc>
                <a:tc>
                  <a:txBody>
                    <a:bodyPr/>
                    <a:lstStyle/>
                    <a:p>
                      <a:pPr>
                        <a:defRPr sz="900" b="0">
                          <a:solidFill>
                            <a:srgbClr val="F0F0FF"/>
                          </a:solidFill>
                          <a:latin typeface="Calibri"/>
                        </a:defRPr>
                      </a:pPr>
                      <a:r>
                        <a:t>—</a:t>
                      </a:r>
                    </a:p>
                  </a:txBody>
                  <a:tcPr anchor="t" marL="64008" marR="64008" marT="27432" marB="27432">
                    <a:solidFill>
                      <a:srgbClr val="161630"/>
                    </a:solidFill>
                  </a:tcPr>
                </a:tc>
              </a:tr>
              <a:tr h="427808">
                <a:tc>
                  <a:txBody>
                    <a:bodyPr/>
                    <a:lstStyle/>
                    <a:p>
                      <a:pPr>
                        <a:defRPr sz="900" b="1">
                          <a:solidFill>
                            <a:srgbClr val="AA5CF7"/>
                          </a:solidFill>
                          <a:latin typeface="Calibri"/>
                        </a:defRPr>
                      </a:pPr>
                      <a:r>
                        <a:t>Prescribed Meds</a:t>
                      </a:r>
                    </a:p>
                  </a:txBody>
                  <a:tcPr anchor="t" marL="64008" marR="64008" marT="27432" marB="27432">
                    <a:solidFill>
                      <a:srgbClr val="1E1E3A"/>
                    </a:solidFill>
                  </a:tcPr>
                </a:tc>
                <a:tc>
                  <a:txBody>
                    <a:bodyPr/>
                    <a:lstStyle/>
                    <a:p>
                      <a:pPr>
                        <a:defRPr sz="900" b="0">
                          <a:solidFill>
                            <a:srgbClr val="F0F0FF"/>
                          </a:solidFill>
                          <a:latin typeface="Calibri"/>
                        </a:defRPr>
                      </a:pPr>
                      <a:r>
                        <a:t>—</a:t>
                      </a:r>
                    </a:p>
                  </a:txBody>
                  <a:tcPr anchor="t" marL="64008" marR="64008" marT="27432" marB="27432">
                    <a:solidFill>
                      <a:srgbClr val="1E1E3A"/>
                    </a:solidFill>
                  </a:tcPr>
                </a:tc>
                <a:tc>
                  <a:txBody>
                    <a:bodyPr/>
                    <a:lstStyle/>
                    <a:p>
                      <a:pPr>
                        <a:defRPr sz="900" b="0">
                          <a:solidFill>
                            <a:srgbClr val="F0F0FF"/>
                          </a:solidFill>
                          <a:latin typeface="Calibri"/>
                        </a:defRPr>
                      </a:pPr>
                      <a:r>
                        <a:t>—</a:t>
                      </a:r>
                    </a:p>
                  </a:txBody>
                  <a:tcPr anchor="t" marL="64008" marR="64008" marT="27432" marB="27432">
                    <a:solidFill>
                      <a:srgbClr val="1E1E3A"/>
                    </a:solidFill>
                  </a:tcPr>
                </a:tc>
              </a:tr>
              <a:tr h="427808">
                <a:tc>
                  <a:txBody>
                    <a:bodyPr/>
                    <a:lstStyle/>
                    <a:p>
                      <a:pPr>
                        <a:defRPr sz="900" b="1">
                          <a:solidFill>
                            <a:srgbClr val="AA5CF7"/>
                          </a:solidFill>
                          <a:latin typeface="Calibri"/>
                        </a:defRPr>
                      </a:pPr>
                      <a:r>
                        <a:t>Treatment Plan</a:t>
                      </a:r>
                    </a:p>
                  </a:txBody>
                  <a:tcPr anchor="t" marL="64008" marR="64008" marT="27432" marB="27432">
                    <a:solidFill>
                      <a:srgbClr val="161630"/>
                    </a:solidFill>
                  </a:tcPr>
                </a:tc>
                <a:tc>
                  <a:txBody>
                    <a:bodyPr/>
                    <a:lstStyle/>
                    <a:p>
                      <a:pPr>
                        <a:defRPr sz="900" b="0">
                          <a:solidFill>
                            <a:srgbClr val="F0F0FF"/>
                          </a:solidFill>
                          <a:latin typeface="Calibri"/>
                        </a:defRPr>
                      </a:pPr>
                      <a:r>
                        <a:t>—</a:t>
                      </a:r>
                    </a:p>
                  </a:txBody>
                  <a:tcPr anchor="t" marL="64008" marR="64008" marT="27432" marB="27432">
                    <a:solidFill>
                      <a:srgbClr val="161630"/>
                    </a:solidFill>
                  </a:tcPr>
                </a:tc>
                <a:tc>
                  <a:txBody>
                    <a:bodyPr/>
                    <a:lstStyle/>
                    <a:p>
                      <a:pPr>
                        <a:defRPr sz="900" b="0">
                          <a:solidFill>
                            <a:srgbClr val="F0F0FF"/>
                          </a:solidFill>
                          <a:latin typeface="Calibri"/>
                        </a:defRPr>
                      </a:pPr>
                      <a:r>
                        <a:t>—</a:t>
                      </a:r>
                    </a:p>
                  </a:txBody>
                  <a:tcPr anchor="t" marL="64008" marR="64008" marT="27432" marB="27432">
                    <a:solidFill>
                      <a:srgbClr val="161630"/>
                    </a:solidFill>
                  </a:tcPr>
                </a:tc>
              </a:tr>
              <a:tr h="427808">
                <a:tc>
                  <a:txBody>
                    <a:bodyPr/>
                    <a:lstStyle/>
                    <a:p>
                      <a:pPr>
                        <a:defRPr sz="900" b="1">
                          <a:solidFill>
                            <a:srgbClr val="AA5CF7"/>
                          </a:solidFill>
                          <a:latin typeface="Calibri"/>
                        </a:defRPr>
                      </a:pPr>
                      <a:r>
                        <a:t>Investigations</a:t>
                      </a:r>
                    </a:p>
                  </a:txBody>
                  <a:tcPr anchor="t" marL="64008" marR="64008" marT="27432" marB="27432">
                    <a:solidFill>
                      <a:srgbClr val="1E1E3A"/>
                    </a:solidFill>
                  </a:tcPr>
                </a:tc>
                <a:tc>
                  <a:txBody>
                    <a:bodyPr/>
                    <a:lstStyle/>
                    <a:p>
                      <a:pPr>
                        <a:defRPr sz="900" b="0">
                          <a:solidFill>
                            <a:srgbClr val="F0F0FF"/>
                          </a:solidFill>
                          <a:latin typeface="Calibri"/>
                        </a:defRPr>
                      </a:pPr>
                      <a:r>
                        <a:t>—</a:t>
                      </a:r>
                    </a:p>
                  </a:txBody>
                  <a:tcPr anchor="t" marL="64008" marR="64008" marT="27432" marB="27432">
                    <a:solidFill>
                      <a:srgbClr val="1E1E3A"/>
                    </a:solidFill>
                  </a:tcPr>
                </a:tc>
                <a:tc>
                  <a:txBody>
                    <a:bodyPr/>
                    <a:lstStyle/>
                    <a:p>
                      <a:pPr>
                        <a:defRPr sz="900" b="0">
                          <a:solidFill>
                            <a:srgbClr val="F0F0FF"/>
                          </a:solidFill>
                          <a:latin typeface="Calibri"/>
                        </a:defRPr>
                      </a:pPr>
                      <a:r>
                        <a:t>—</a:t>
                      </a:r>
                    </a:p>
                  </a:txBody>
                  <a:tcPr anchor="t" marL="64008" marR="64008" marT="27432" marB="27432">
                    <a:solidFill>
                      <a:srgbClr val="1E1E3A"/>
                    </a:solidFill>
                  </a:tcPr>
                </a:tc>
              </a:tr>
              <a:tr h="427816">
                <a:tc>
                  <a:txBody>
                    <a:bodyPr/>
                    <a:lstStyle/>
                    <a:p>
                      <a:pPr>
                        <a:defRPr sz="900" b="1">
                          <a:solidFill>
                            <a:srgbClr val="AA5CF7"/>
                          </a:solidFill>
                          <a:latin typeface="Calibri"/>
                        </a:defRPr>
                      </a:pPr>
                      <a:r>
                        <a:t>Follow Up</a:t>
                      </a:r>
                    </a:p>
                  </a:txBody>
                  <a:tcPr anchor="t" marL="64008" marR="64008" marT="27432" marB="27432">
                    <a:solidFill>
                      <a:srgbClr val="161630"/>
                    </a:solidFill>
                  </a:tcPr>
                </a:tc>
                <a:tc>
                  <a:txBody>
                    <a:bodyPr/>
                    <a:lstStyle/>
                    <a:p>
                      <a:pPr>
                        <a:defRPr sz="900" b="0">
                          <a:solidFill>
                            <a:srgbClr val="F0F0FF"/>
                          </a:solidFill>
                          <a:latin typeface="Calibri"/>
                        </a:defRPr>
                      </a:pPr>
                      <a:r>
                        <a:t>—</a:t>
                      </a:r>
                    </a:p>
                  </a:txBody>
                  <a:tcPr anchor="t" marL="64008" marR="64008" marT="27432" marB="27432">
                    <a:solidFill>
                      <a:srgbClr val="161630"/>
                    </a:solidFill>
                  </a:tcPr>
                </a:tc>
                <a:tc>
                  <a:txBody>
                    <a:bodyPr/>
                    <a:lstStyle/>
                    <a:p>
                      <a:pPr>
                        <a:defRPr sz="900" b="0">
                          <a:solidFill>
                            <a:srgbClr val="F0F0FF"/>
                          </a:solidFill>
                          <a:latin typeface="Calibri"/>
                        </a:defRPr>
                      </a:pPr>
                      <a:r>
                        <a:t>—</a:t>
                      </a:r>
                    </a:p>
                  </a:txBody>
                  <a:tcPr anchor="t" marL="64008" marR="64008" marT="27432" marB="27432">
                    <a:solidFill>
                      <a:srgbClr val="161630"/>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AA5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914400"/>
            <a:ext cx="10332720" cy="685800"/>
          </a:xfrm>
          <a:prstGeom prst="rect">
            <a:avLst/>
          </a:prstGeom>
          <a:noFill/>
        </p:spPr>
        <p:txBody>
          <a:bodyPr wrap="square">
            <a:spAutoFit/>
          </a:bodyPr>
          <a:lstStyle/>
          <a:p>
            <a:pPr algn="ctr">
              <a:defRPr sz="4200" b="1">
                <a:solidFill>
                  <a:srgbClr val="AA5CF7"/>
                </a:solidFill>
                <a:latin typeface="Calibri"/>
              </a:defRPr>
            </a:pPr>
            <a:r>
              <a:t>Case Study: DER0001</a:t>
            </a:r>
          </a:p>
        </p:txBody>
      </p:sp>
      <p:sp>
        <p:nvSpPr>
          <p:cNvPr id="4" name="TextBox 3"/>
          <p:cNvSpPr txBox="1"/>
          <p:nvPr/>
        </p:nvSpPr>
        <p:spPr>
          <a:xfrm>
            <a:off x="914400" y="1691640"/>
            <a:ext cx="10332720" cy="457200"/>
          </a:xfrm>
          <a:prstGeom prst="rect">
            <a:avLst/>
          </a:prstGeom>
          <a:noFill/>
        </p:spPr>
        <p:txBody>
          <a:bodyPr wrap="square">
            <a:spAutoFit/>
          </a:bodyPr>
          <a:lstStyle/>
          <a:p>
            <a:pPr algn="ctr">
              <a:defRPr sz="2200" b="0">
                <a:solidFill>
                  <a:srgbClr val="F0F0FF"/>
                </a:solidFill>
                <a:latin typeface="Calibri"/>
              </a:defRPr>
            </a:pPr>
            <a:r>
              <a:t>Dermatology — Skin Rash</a:t>
            </a:r>
          </a:p>
        </p:txBody>
      </p:sp>
      <p:sp>
        <p:nvSpPr>
          <p:cNvPr id="5" name="TextBox 4"/>
          <p:cNvSpPr txBox="1"/>
          <p:nvPr/>
        </p:nvSpPr>
        <p:spPr>
          <a:xfrm>
            <a:off x="914400" y="2240280"/>
            <a:ext cx="10332720" cy="365760"/>
          </a:xfrm>
          <a:prstGeom prst="rect">
            <a:avLst/>
          </a:prstGeom>
          <a:noFill/>
        </p:spPr>
        <p:txBody>
          <a:bodyPr wrap="square">
            <a:spAutoFit/>
          </a:bodyPr>
          <a:lstStyle/>
          <a:p>
            <a:pPr algn="ctr">
              <a:defRPr sz="1600" b="0">
                <a:solidFill>
                  <a:srgbClr val="8888AA"/>
                </a:solidFill>
                <a:latin typeface="Calibri"/>
              </a:defRPr>
            </a:pPr>
            <a:r>
              <a:t>SOAP Extraction Analysis  ·  GPT-5.6 Terra</a:t>
            </a:r>
          </a:p>
        </p:txBody>
      </p:sp>
      <p:sp>
        <p:nvSpPr>
          <p:cNvPr id="6" name="Rounded Rectangle 5"/>
          <p:cNvSpPr/>
          <p:nvPr/>
        </p:nvSpPr>
        <p:spPr>
          <a:xfrm>
            <a:off x="1097280" y="3017520"/>
            <a:ext cx="2286000" cy="777240"/>
          </a:xfrm>
          <a:prstGeom prst="roundRect">
            <a:avLst>
              <a:gd name="adj" fmla="val 4000"/>
            </a:avLst>
          </a:prstGeom>
          <a:solidFill>
            <a:srgbClr val="14142E"/>
          </a:solidFill>
          <a:ln w="9525">
            <a:solidFill>
              <a:srgbClr val="282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3090672"/>
            <a:ext cx="2286000" cy="320040"/>
          </a:xfrm>
          <a:prstGeom prst="rect">
            <a:avLst/>
          </a:prstGeom>
          <a:noFill/>
        </p:spPr>
        <p:txBody>
          <a:bodyPr wrap="square">
            <a:spAutoFit/>
          </a:bodyPr>
          <a:lstStyle/>
          <a:p>
            <a:pPr algn="ctr">
              <a:defRPr sz="1100" b="0">
                <a:solidFill>
                  <a:srgbClr val="8888AA"/>
                </a:solidFill>
                <a:latin typeface="Calibri"/>
              </a:defRPr>
            </a:pPr>
            <a:r>
              <a:t>Clinical Fidelity</a:t>
            </a:r>
          </a:p>
        </p:txBody>
      </p:sp>
      <p:sp>
        <p:nvSpPr>
          <p:cNvPr id="8" name="TextBox 7"/>
          <p:cNvSpPr txBox="1"/>
          <p:nvPr/>
        </p:nvSpPr>
        <p:spPr>
          <a:xfrm>
            <a:off x="1097280" y="3401568"/>
            <a:ext cx="2286000" cy="384048"/>
          </a:xfrm>
          <a:prstGeom prst="rect">
            <a:avLst/>
          </a:prstGeom>
          <a:noFill/>
        </p:spPr>
        <p:txBody>
          <a:bodyPr wrap="square">
            <a:spAutoFit/>
          </a:bodyPr>
          <a:lstStyle/>
          <a:p>
            <a:pPr algn="ctr">
              <a:defRPr sz="2400" b="1">
                <a:solidFill>
                  <a:srgbClr val="AA5CF7"/>
                </a:solidFill>
                <a:latin typeface="Calibri"/>
              </a:defRPr>
            </a:pPr>
            <a:r>
              <a:t>98%</a:t>
            </a:r>
          </a:p>
        </p:txBody>
      </p:sp>
      <p:sp>
        <p:nvSpPr>
          <p:cNvPr id="9" name="Rounded Rectangle 8"/>
          <p:cNvSpPr/>
          <p:nvPr/>
        </p:nvSpPr>
        <p:spPr>
          <a:xfrm>
            <a:off x="3688080" y="3017520"/>
            <a:ext cx="2286000" cy="777240"/>
          </a:xfrm>
          <a:prstGeom prst="roundRect">
            <a:avLst>
              <a:gd name="adj" fmla="val 4000"/>
            </a:avLst>
          </a:prstGeom>
          <a:solidFill>
            <a:srgbClr val="14142E"/>
          </a:solidFill>
          <a:ln w="9525">
            <a:solidFill>
              <a:srgbClr val="282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88080" y="3090672"/>
            <a:ext cx="2286000" cy="320040"/>
          </a:xfrm>
          <a:prstGeom prst="rect">
            <a:avLst/>
          </a:prstGeom>
          <a:noFill/>
        </p:spPr>
        <p:txBody>
          <a:bodyPr wrap="square">
            <a:spAutoFit/>
          </a:bodyPr>
          <a:lstStyle/>
          <a:p>
            <a:pPr algn="ctr">
              <a:defRPr sz="1100" b="0">
                <a:solidFill>
                  <a:srgbClr val="8888AA"/>
                </a:solidFill>
                <a:latin typeface="Calibri"/>
              </a:defRPr>
            </a:pPr>
            <a:r>
              <a:t>Logical Consistency</a:t>
            </a:r>
          </a:p>
        </p:txBody>
      </p:sp>
      <p:sp>
        <p:nvSpPr>
          <p:cNvPr id="11" name="TextBox 10"/>
          <p:cNvSpPr txBox="1"/>
          <p:nvPr/>
        </p:nvSpPr>
        <p:spPr>
          <a:xfrm>
            <a:off x="3688080" y="3401568"/>
            <a:ext cx="2286000" cy="384048"/>
          </a:xfrm>
          <a:prstGeom prst="rect">
            <a:avLst/>
          </a:prstGeom>
          <a:noFill/>
        </p:spPr>
        <p:txBody>
          <a:bodyPr wrap="square">
            <a:spAutoFit/>
          </a:bodyPr>
          <a:lstStyle/>
          <a:p>
            <a:pPr algn="ctr">
              <a:defRPr sz="2400" b="1">
                <a:solidFill>
                  <a:srgbClr val="AA5CF7"/>
                </a:solidFill>
                <a:latin typeface="Calibri"/>
              </a:defRPr>
            </a:pPr>
            <a:r>
              <a:t>95%</a:t>
            </a:r>
          </a:p>
        </p:txBody>
      </p:sp>
      <p:sp>
        <p:nvSpPr>
          <p:cNvPr id="12" name="Rounded Rectangle 11"/>
          <p:cNvSpPr/>
          <p:nvPr/>
        </p:nvSpPr>
        <p:spPr>
          <a:xfrm>
            <a:off x="6278880" y="3017520"/>
            <a:ext cx="2286000" cy="777240"/>
          </a:xfrm>
          <a:prstGeom prst="roundRect">
            <a:avLst>
              <a:gd name="adj" fmla="val 4000"/>
            </a:avLst>
          </a:prstGeom>
          <a:solidFill>
            <a:srgbClr val="14142E"/>
          </a:solidFill>
          <a:ln w="9525">
            <a:solidFill>
              <a:srgbClr val="282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78880" y="3090672"/>
            <a:ext cx="2286000" cy="320040"/>
          </a:xfrm>
          <a:prstGeom prst="rect">
            <a:avLst/>
          </a:prstGeom>
          <a:noFill/>
        </p:spPr>
        <p:txBody>
          <a:bodyPr wrap="square">
            <a:spAutoFit/>
          </a:bodyPr>
          <a:lstStyle/>
          <a:p>
            <a:pPr algn="ctr">
              <a:defRPr sz="1100" b="0">
                <a:solidFill>
                  <a:srgbClr val="8888AA"/>
                </a:solidFill>
                <a:latin typeface="Calibri"/>
              </a:defRPr>
            </a:pPr>
            <a:r>
              <a:t>SOAP Structural Fidelity</a:t>
            </a:r>
          </a:p>
        </p:txBody>
      </p:sp>
      <p:sp>
        <p:nvSpPr>
          <p:cNvPr id="14" name="TextBox 13"/>
          <p:cNvSpPr txBox="1"/>
          <p:nvPr/>
        </p:nvSpPr>
        <p:spPr>
          <a:xfrm>
            <a:off x="6278880" y="3401568"/>
            <a:ext cx="2286000" cy="384048"/>
          </a:xfrm>
          <a:prstGeom prst="rect">
            <a:avLst/>
          </a:prstGeom>
          <a:noFill/>
        </p:spPr>
        <p:txBody>
          <a:bodyPr wrap="square">
            <a:spAutoFit/>
          </a:bodyPr>
          <a:lstStyle/>
          <a:p>
            <a:pPr algn="ctr">
              <a:defRPr sz="2400" b="1">
                <a:solidFill>
                  <a:srgbClr val="AA5CF7"/>
                </a:solidFill>
                <a:latin typeface="Calibri"/>
              </a:defRPr>
            </a:pPr>
            <a:r>
              <a:t>92%</a:t>
            </a:r>
          </a:p>
        </p:txBody>
      </p:sp>
      <p:sp>
        <p:nvSpPr>
          <p:cNvPr id="15" name="Rounded Rectangle 14"/>
          <p:cNvSpPr/>
          <p:nvPr/>
        </p:nvSpPr>
        <p:spPr>
          <a:xfrm>
            <a:off x="8869680" y="3017520"/>
            <a:ext cx="2286000" cy="777240"/>
          </a:xfrm>
          <a:prstGeom prst="roundRect">
            <a:avLst>
              <a:gd name="adj" fmla="val 4000"/>
            </a:avLst>
          </a:prstGeom>
          <a:solidFill>
            <a:srgbClr val="14142E"/>
          </a:solidFill>
          <a:ln w="9525">
            <a:solidFill>
              <a:srgbClr val="282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69680" y="3090672"/>
            <a:ext cx="2286000" cy="320040"/>
          </a:xfrm>
          <a:prstGeom prst="rect">
            <a:avLst/>
          </a:prstGeom>
          <a:noFill/>
        </p:spPr>
        <p:txBody>
          <a:bodyPr wrap="square">
            <a:spAutoFit/>
          </a:bodyPr>
          <a:lstStyle/>
          <a:p>
            <a:pPr algn="ctr">
              <a:defRPr sz="1100" b="0">
                <a:solidFill>
                  <a:srgbClr val="8888AA"/>
                </a:solidFill>
                <a:latin typeface="Calibri"/>
              </a:defRPr>
            </a:pPr>
            <a:r>
              <a:t>Overall Average</a:t>
            </a:r>
          </a:p>
        </p:txBody>
      </p:sp>
      <p:sp>
        <p:nvSpPr>
          <p:cNvPr id="17" name="TextBox 16"/>
          <p:cNvSpPr txBox="1"/>
          <p:nvPr/>
        </p:nvSpPr>
        <p:spPr>
          <a:xfrm>
            <a:off x="8869680" y="3401568"/>
            <a:ext cx="2286000" cy="384048"/>
          </a:xfrm>
          <a:prstGeom prst="rect">
            <a:avLst/>
          </a:prstGeom>
          <a:noFill/>
        </p:spPr>
        <p:txBody>
          <a:bodyPr wrap="square">
            <a:spAutoFit/>
          </a:bodyPr>
          <a:lstStyle/>
          <a:p>
            <a:pPr algn="ctr">
              <a:defRPr sz="2400" b="1">
                <a:solidFill>
                  <a:srgbClr val="FFCC00"/>
                </a:solidFill>
                <a:latin typeface="Calibri"/>
              </a:defRPr>
            </a:pPr>
            <a:r>
              <a:t>95.0%</a:t>
            </a:r>
          </a:p>
        </p:txBody>
      </p:sp>
      <p:sp>
        <p:nvSpPr>
          <p:cNvPr id="18" name="TextBox 17"/>
          <p:cNvSpPr txBox="1"/>
          <p:nvPr/>
        </p:nvSpPr>
        <p:spPr>
          <a:xfrm>
            <a:off x="914400" y="4114800"/>
            <a:ext cx="10332720" cy="320040"/>
          </a:xfrm>
          <a:prstGeom prst="rect">
            <a:avLst/>
          </a:prstGeom>
          <a:noFill/>
        </p:spPr>
        <p:txBody>
          <a:bodyPr wrap="square">
            <a:spAutoFit/>
          </a:bodyPr>
          <a:lstStyle/>
          <a:p>
            <a:pPr algn="ctr">
              <a:defRPr sz="1200" b="0">
                <a:solidFill>
                  <a:srgbClr val="8888AA"/>
                </a:solidFill>
                <a:latin typeface="Calibri"/>
              </a:defRPr>
            </a:pPr>
            <a:r>
              <a:t>Evaluated by gemini-3.5-flash-lite  |  Scale: 0–100%  |  Paper-aligned metrics</a:t>
            </a:r>
          </a:p>
        </p:txBody>
      </p:sp>
      <p:sp>
        <p:nvSpPr>
          <p:cNvPr id="19" name="Rectangle 18"/>
          <p:cNvSpPr/>
          <p:nvPr/>
        </p:nvSpPr>
        <p:spPr>
          <a:xfrm>
            <a:off x="0" y="6675120"/>
            <a:ext cx="12191695" cy="91440"/>
          </a:xfrm>
          <a:prstGeom prst="rect">
            <a:avLst/>
          </a:prstGeom>
          <a:solidFill>
            <a:srgbClr val="AA5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TextBox 1"/>
          <p:cNvSpPr txBox="1"/>
          <p:nvPr/>
        </p:nvSpPr>
        <p:spPr>
          <a:xfrm>
            <a:off x="457200" y="182880"/>
            <a:ext cx="11247120" cy="502920"/>
          </a:xfrm>
          <a:prstGeom prst="rect">
            <a:avLst/>
          </a:prstGeom>
          <a:noFill/>
        </p:spPr>
        <p:txBody>
          <a:bodyPr wrap="square">
            <a:spAutoFit/>
          </a:bodyPr>
          <a:lstStyle/>
          <a:p>
            <a:pPr algn="l">
              <a:defRPr sz="2200" b="1">
                <a:solidFill>
                  <a:srgbClr val="AA5CF7"/>
                </a:solidFill>
                <a:latin typeface="Calibri"/>
              </a:defRPr>
            </a:pPr>
            <a:r>
              <a:t>DER0001 — Speech-to-Text Transcript Comparison</a:t>
            </a:r>
          </a:p>
        </p:txBody>
      </p:sp>
      <p:sp>
        <p:nvSpPr>
          <p:cNvPr id="3" name="TextBox 2"/>
          <p:cNvSpPr txBox="1"/>
          <p:nvPr/>
        </p:nvSpPr>
        <p:spPr>
          <a:xfrm>
            <a:off x="457200" y="749808"/>
            <a:ext cx="11247120" cy="292608"/>
          </a:xfrm>
          <a:prstGeom prst="rect">
            <a:avLst/>
          </a:prstGeom>
          <a:noFill/>
        </p:spPr>
        <p:txBody>
          <a:bodyPr wrap="square">
            <a:spAutoFit/>
          </a:bodyPr>
          <a:lstStyle/>
          <a:p>
            <a:pPr algn="l">
              <a:defRPr sz="1300" b="0">
                <a:solidFill>
                  <a:srgbClr val="8888AA"/>
                </a:solidFill>
                <a:latin typeface="Calibri"/>
              </a:defRPr>
            </a:pPr>
            <a:r>
              <a:t>Ground Truth dialogue vs GPT-5.6 Terra diarized STT output (first ~100 words)</a:t>
            </a:r>
          </a:p>
        </p:txBody>
      </p:sp>
      <p:sp>
        <p:nvSpPr>
          <p:cNvPr id="4" name="Rounded Rectangle 3"/>
          <p:cNvSpPr/>
          <p:nvPr/>
        </p:nvSpPr>
        <p:spPr>
          <a:xfrm>
            <a:off x="274320" y="1170432"/>
            <a:ext cx="5577840" cy="5349240"/>
          </a:xfrm>
          <a:prstGeom prst="roundRect">
            <a:avLst>
              <a:gd name="adj" fmla="val 4000"/>
            </a:avLst>
          </a:prstGeom>
          <a:solidFill>
            <a:srgbClr val="14142E"/>
          </a:solidFill>
          <a:ln w="9525">
            <a:solidFill>
              <a:srgbClr val="282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335024"/>
            <a:ext cx="3474720" cy="384048"/>
          </a:xfrm>
          <a:prstGeom prst="roundRect">
            <a:avLst>
              <a:gd name="adj" fmla="val 50000"/>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300" b="1">
                <a:solidFill>
                  <a:srgbClr val="0A0A1A"/>
                </a:solidFill>
                <a:latin typeface="Calibri"/>
              </a:defRPr>
            </a:pPr>
            <a:r>
              <a:t>📄  Real Transcript (Ground Truth)</a:t>
            </a:r>
          </a:p>
        </p:txBody>
      </p:sp>
      <p:sp>
        <p:nvSpPr>
          <p:cNvPr id="6" name="TextBox 5"/>
          <p:cNvSpPr txBox="1"/>
          <p:nvPr/>
        </p:nvSpPr>
        <p:spPr>
          <a:xfrm>
            <a:off x="502920" y="1856232"/>
            <a:ext cx="5166360" cy="4434840"/>
          </a:xfrm>
          <a:prstGeom prst="rect">
            <a:avLst/>
          </a:prstGeom>
          <a:noFill/>
        </p:spPr>
        <p:txBody>
          <a:bodyPr wrap="square">
            <a:spAutoFit/>
          </a:bodyPr>
          <a:lstStyle/>
          <a:p>
            <a:pPr algn="l">
              <a:defRPr sz="1300" b="0">
                <a:solidFill>
                  <a:srgbClr val="F0F0FF"/>
                </a:solidFill>
                <a:latin typeface="Calibri"/>
              </a:defRPr>
            </a:pPr>
            <a:r>
              <a:t>P: Hey Doc, I'm a 45 year old man coming in, I'm worried there's a little old rash on my leg that I'm getting nervous about.</a:t>
            </a:r>
            <a:br/>
            <a:r>
              <a:t>D: Hi, so you I understand you have a rash on your leg.</a:t>
            </a:r>
            <a:br/>
            <a:r>
              <a:t>P: I don't really know what I would call it. That's what I told the nurse when I came in, but it more hurts than anything.</a:t>
            </a:r>
            <a:br/>
            <a:r>
              <a:t>D: OK, uh, how long is this been going on for?</a:t>
            </a:r>
            <a:br/>
            <a:r>
              <a:t>...</a:t>
            </a:r>
          </a:p>
        </p:txBody>
      </p:sp>
      <p:sp>
        <p:nvSpPr>
          <p:cNvPr id="7" name="Rounded Rectangle 6"/>
          <p:cNvSpPr/>
          <p:nvPr/>
        </p:nvSpPr>
        <p:spPr>
          <a:xfrm>
            <a:off x="6172200" y="1170432"/>
            <a:ext cx="5577840" cy="5349240"/>
          </a:xfrm>
          <a:prstGeom prst="roundRect">
            <a:avLst>
              <a:gd name="adj" fmla="val 4000"/>
            </a:avLst>
          </a:prstGeom>
          <a:solidFill>
            <a:srgbClr val="14142E"/>
          </a:solidFill>
          <a:ln w="9525">
            <a:solidFill>
              <a:srgbClr val="282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00800" y="1335024"/>
            <a:ext cx="3749039" cy="384048"/>
          </a:xfrm>
          <a:prstGeom prst="roundRect">
            <a:avLst>
              <a:gd name="adj" fmla="val 50000"/>
            </a:avLst>
          </a:prstGeom>
          <a:solidFill>
            <a:srgbClr val="AA5CF7"/>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300" b="1">
                <a:solidFill>
                  <a:srgbClr val="F0F0FF"/>
                </a:solidFill>
                <a:latin typeface="Calibri"/>
              </a:defRPr>
            </a:pPr>
            <a:r>
              <a:t>🤖  GPT-5.6 Terra Diarized STT</a:t>
            </a:r>
          </a:p>
        </p:txBody>
      </p:sp>
      <p:sp>
        <p:nvSpPr>
          <p:cNvPr id="9" name="TextBox 8"/>
          <p:cNvSpPr txBox="1"/>
          <p:nvPr/>
        </p:nvSpPr>
        <p:spPr>
          <a:xfrm>
            <a:off x="6400800" y="1856232"/>
            <a:ext cx="5166360" cy="4434840"/>
          </a:xfrm>
          <a:prstGeom prst="rect">
            <a:avLst/>
          </a:prstGeom>
          <a:noFill/>
        </p:spPr>
        <p:txBody>
          <a:bodyPr wrap="square">
            <a:spAutoFit/>
          </a:bodyPr>
          <a:lstStyle/>
          <a:p>
            <a:pPr algn="l">
              <a:defRPr sz="1300" b="0">
                <a:solidFill>
                  <a:srgbClr val="F0F0FF"/>
                </a:solidFill>
                <a:latin typeface="Calibri"/>
              </a:defRPr>
            </a:pPr>
            <a:r>
              <a:t>P: Hey doc, I'm a 45 year old man coming in. I'm worried there's a little rash on my leg I'm getting nervous about.</a:t>
            </a:r>
            <a:br/>
            <a:r>
              <a:t>D: Hi. So I understand you have a rash on your leg.</a:t>
            </a:r>
            <a:br/>
            <a:r>
              <a:t>P: I don't really know what I would call it. That's what I told the nurse when I came in, but it's more hurts than anything.</a:t>
            </a:r>
            <a:br/>
            <a:r>
              <a:t>D: Okay. How long has this been going on for?</a:t>
            </a:r>
            <a:br/>
            <a:r>
              <a:t>P: It's been, it's been looking weird for about a week, but only, yes, it started hurting yesterday.</a:t>
            </a:r>
            <a:br/>
            <a:r>
              <a: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TextBox 1"/>
          <p:cNvSpPr txBox="1"/>
          <p:nvPr/>
        </p:nvSpPr>
        <p:spPr>
          <a:xfrm>
            <a:off x="457200" y="182880"/>
            <a:ext cx="11247120" cy="502920"/>
          </a:xfrm>
          <a:prstGeom prst="rect">
            <a:avLst/>
          </a:prstGeom>
          <a:noFill/>
        </p:spPr>
        <p:txBody>
          <a:bodyPr wrap="square">
            <a:spAutoFit/>
          </a:bodyPr>
          <a:lstStyle/>
          <a:p>
            <a:pPr algn="l">
              <a:defRPr sz="2200" b="1">
                <a:solidFill>
                  <a:srgbClr val="AA5CF7"/>
                </a:solidFill>
                <a:latin typeface="Calibri"/>
              </a:defRPr>
            </a:pPr>
            <a:r>
              <a:t>DER0001 — Clinical Summary Comparison</a:t>
            </a:r>
          </a:p>
        </p:txBody>
      </p:sp>
      <p:sp>
        <p:nvSpPr>
          <p:cNvPr id="3" name="TextBox 2"/>
          <p:cNvSpPr txBox="1"/>
          <p:nvPr/>
        </p:nvSpPr>
        <p:spPr>
          <a:xfrm>
            <a:off x="457200" y="749808"/>
            <a:ext cx="11247120" cy="292608"/>
          </a:xfrm>
          <a:prstGeom prst="rect">
            <a:avLst/>
          </a:prstGeom>
          <a:noFill/>
        </p:spPr>
        <p:txBody>
          <a:bodyPr wrap="square">
            <a:spAutoFit/>
          </a:bodyPr>
          <a:lstStyle/>
          <a:p>
            <a:pPr algn="l">
              <a:defRPr sz="1300" b="0">
                <a:solidFill>
                  <a:srgbClr val="8888AA"/>
                </a:solidFill>
                <a:latin typeface="Calibri"/>
              </a:defRPr>
            </a:pPr>
            <a:r>
              <a:t>AI-extracted clinical summary: Ground Truth vs GPT-5.6 Terra (first ~100 words)</a:t>
            </a:r>
          </a:p>
        </p:txBody>
      </p:sp>
      <p:sp>
        <p:nvSpPr>
          <p:cNvPr id="4" name="Rounded Rectangle 3"/>
          <p:cNvSpPr/>
          <p:nvPr/>
        </p:nvSpPr>
        <p:spPr>
          <a:xfrm>
            <a:off x="274320" y="1170432"/>
            <a:ext cx="5577840" cy="5349240"/>
          </a:xfrm>
          <a:prstGeom prst="roundRect">
            <a:avLst>
              <a:gd name="adj" fmla="val 4000"/>
            </a:avLst>
          </a:prstGeom>
          <a:solidFill>
            <a:srgbClr val="14142E"/>
          </a:solidFill>
          <a:ln w="9525">
            <a:solidFill>
              <a:srgbClr val="282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335024"/>
            <a:ext cx="3291840" cy="384048"/>
          </a:xfrm>
          <a:prstGeom prst="roundRect">
            <a:avLst>
              <a:gd name="adj" fmla="val 50000"/>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300" b="1">
                <a:solidFill>
                  <a:srgbClr val="0A0A1A"/>
                </a:solidFill>
                <a:latin typeface="Calibri"/>
              </a:defRPr>
            </a:pPr>
            <a:r>
              <a:t>📄  Ground Truth Summary</a:t>
            </a:r>
          </a:p>
        </p:txBody>
      </p:sp>
      <p:sp>
        <p:nvSpPr>
          <p:cNvPr id="6" name="TextBox 5"/>
          <p:cNvSpPr txBox="1"/>
          <p:nvPr/>
        </p:nvSpPr>
        <p:spPr>
          <a:xfrm>
            <a:off x="502920" y="1856232"/>
            <a:ext cx="5166360" cy="4434840"/>
          </a:xfrm>
          <a:prstGeom prst="rect">
            <a:avLst/>
          </a:prstGeom>
          <a:noFill/>
        </p:spPr>
        <p:txBody>
          <a:bodyPr wrap="square">
            <a:spAutoFit/>
          </a:bodyPr>
          <a:lstStyle/>
          <a:p>
            <a:pPr algn="l">
              <a:defRPr sz="1300" b="0">
                <a:solidFill>
                  <a:srgbClr val="F0F0FF"/>
                </a:solidFill>
                <a:latin typeface="Calibri"/>
              </a:defRPr>
            </a:pPr>
            <a:r>
              <a:t>A 45-year-old male with poorly controlled diabetes presents with a painful, swollen, and red rash on his right ankle of one week's duration, now with purulent drainage. Patient also reports constitutional symptoms including fatigue, increased hunger, and a subjective feeling of fever over the last 12 hours.</a:t>
            </a:r>
          </a:p>
        </p:txBody>
      </p:sp>
      <p:sp>
        <p:nvSpPr>
          <p:cNvPr id="7" name="Rounded Rectangle 6"/>
          <p:cNvSpPr/>
          <p:nvPr/>
        </p:nvSpPr>
        <p:spPr>
          <a:xfrm>
            <a:off x="6172200" y="1170432"/>
            <a:ext cx="5577840" cy="5349240"/>
          </a:xfrm>
          <a:prstGeom prst="roundRect">
            <a:avLst>
              <a:gd name="adj" fmla="val 4000"/>
            </a:avLst>
          </a:prstGeom>
          <a:solidFill>
            <a:srgbClr val="14142E"/>
          </a:solidFill>
          <a:ln w="9525">
            <a:solidFill>
              <a:srgbClr val="282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00800" y="1335024"/>
            <a:ext cx="3474720" cy="384048"/>
          </a:xfrm>
          <a:prstGeom prst="roundRect">
            <a:avLst>
              <a:gd name="adj" fmla="val 50000"/>
            </a:avLst>
          </a:prstGeom>
          <a:solidFill>
            <a:srgbClr val="AA5CF7"/>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300" b="1">
                <a:solidFill>
                  <a:srgbClr val="F0F0FF"/>
                </a:solidFill>
                <a:latin typeface="Calibri"/>
              </a:defRPr>
            </a:pPr>
            <a:r>
              <a:t>🤖  GPT-5.6 Terra Summary</a:t>
            </a:r>
          </a:p>
        </p:txBody>
      </p:sp>
      <p:sp>
        <p:nvSpPr>
          <p:cNvPr id="9" name="TextBox 8"/>
          <p:cNvSpPr txBox="1"/>
          <p:nvPr/>
        </p:nvSpPr>
        <p:spPr>
          <a:xfrm>
            <a:off x="6400800" y="1856232"/>
            <a:ext cx="5166360" cy="4434840"/>
          </a:xfrm>
          <a:prstGeom prst="rect">
            <a:avLst/>
          </a:prstGeom>
          <a:noFill/>
        </p:spPr>
        <p:txBody>
          <a:bodyPr wrap="square">
            <a:spAutoFit/>
          </a:bodyPr>
          <a:lstStyle/>
          <a:p>
            <a:pPr algn="l">
              <a:defRPr sz="1300" b="0">
                <a:solidFill>
                  <a:srgbClr val="F0F0FF"/>
                </a:solidFill>
                <a:latin typeface="Calibri"/>
              </a:defRPr>
            </a:pPr>
            <a:r>
              <a:t>45-year-old man with poorly controlled diabetes presents with a one-week abnormal right ankle lesion that became painful yesterday, with increasing swelling, spreading redness, warmth, an open wound from a scab, and white drainage. He reports feeling hot for 12 hours, recent malaise and low energy, polyuria, increased hunger, and chronic reduced sensation in both feet; examination and discussion with the supervising doctor were planned.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TextBox 1"/>
          <p:cNvSpPr txBox="1"/>
          <p:nvPr/>
        </p:nvSpPr>
        <p:spPr>
          <a:xfrm>
            <a:off x="365760" y="137160"/>
            <a:ext cx="11430000" cy="457200"/>
          </a:xfrm>
          <a:prstGeom prst="rect">
            <a:avLst/>
          </a:prstGeom>
          <a:noFill/>
        </p:spPr>
        <p:txBody>
          <a:bodyPr wrap="square">
            <a:spAutoFit/>
          </a:bodyPr>
          <a:lstStyle/>
          <a:p>
            <a:pPr algn="l">
              <a:defRPr sz="2000" b="1">
                <a:solidFill>
                  <a:srgbClr val="AA5CF7"/>
                </a:solidFill>
                <a:latin typeface="Calibri"/>
              </a:defRPr>
            </a:pPr>
            <a:r>
              <a:t>DER0001 — Structured SOAP Report Comparison</a:t>
            </a:r>
          </a:p>
        </p:txBody>
      </p:sp>
      <p:graphicFrame>
        <p:nvGraphicFramePr>
          <p:cNvPr id="3" name="Table 2"/>
          <p:cNvGraphicFramePr>
            <a:graphicFrameLocks noGrp="1"/>
          </p:cNvGraphicFramePr>
          <p:nvPr/>
        </p:nvGraphicFramePr>
        <p:xfrm>
          <a:off x="274320" y="713232"/>
          <a:ext cx="11612880" cy="5989320"/>
        </p:xfrm>
        <a:graphic>
          <a:graphicData uri="http://schemas.openxmlformats.org/drawingml/2006/table">
            <a:tbl>
              <a:tblPr firstRow="1" bandRow="1">
                <a:tableStyleId>{5C22544A-7EE6-4342-B048-85BDC9FD1C3A}</a:tableStyleId>
              </a:tblPr>
              <a:tblGrid>
                <a:gridCol w="1691640"/>
                <a:gridCol w="4965192"/>
                <a:gridCol w="4956048"/>
              </a:tblGrid>
              <a:tr h="427808">
                <a:tc>
                  <a:txBody>
                    <a:bodyPr/>
                    <a:lstStyle/>
                    <a:p>
                      <a:pPr algn="ctr">
                        <a:defRPr sz="1100" b="1">
                          <a:solidFill>
                            <a:srgbClr val="AA5CF7"/>
                          </a:solidFill>
                          <a:latin typeface="Calibri"/>
                        </a:defRPr>
                      </a:pPr>
                      <a:r>
                        <a:t>SOAP Field</a:t>
                      </a:r>
                    </a:p>
                  </a:txBody>
                  <a:tcPr anchor="ctr">
                    <a:solidFill>
                      <a:srgbClr val="1E1E40"/>
                    </a:solidFill>
                  </a:tcPr>
                </a:tc>
                <a:tc>
                  <a:txBody>
                    <a:bodyPr/>
                    <a:lstStyle/>
                    <a:p>
                      <a:pPr algn="ctr">
                        <a:defRPr sz="1100" b="1">
                          <a:solidFill>
                            <a:srgbClr val="00E596"/>
                          </a:solidFill>
                          <a:latin typeface="Calibri"/>
                        </a:defRPr>
                      </a:pPr>
                      <a:r>
                        <a:t>Ground Truth</a:t>
                      </a:r>
                    </a:p>
                  </a:txBody>
                  <a:tcPr anchor="ctr">
                    <a:solidFill>
                      <a:srgbClr val="1E1E40"/>
                    </a:solidFill>
                  </a:tcPr>
                </a:tc>
                <a:tc>
                  <a:txBody>
                    <a:bodyPr/>
                    <a:lstStyle/>
                    <a:p>
                      <a:pPr algn="ctr">
                        <a:defRPr sz="1100" b="1">
                          <a:solidFill>
                            <a:srgbClr val="AA5CF7"/>
                          </a:solidFill>
                          <a:latin typeface="Calibri"/>
                        </a:defRPr>
                      </a:pPr>
                      <a:r>
                        <a:t>Predicted (GPT-5.6 Terra)</a:t>
                      </a:r>
                    </a:p>
                  </a:txBody>
                  <a:tcPr anchor="ctr">
                    <a:solidFill>
                      <a:srgbClr val="1E1E40"/>
                    </a:solidFill>
                  </a:tcPr>
                </a:tc>
              </a:tr>
              <a:tr h="427808">
                <a:tc>
                  <a:txBody>
                    <a:bodyPr/>
                    <a:lstStyle/>
                    <a:p>
                      <a:pPr>
                        <a:defRPr sz="900" b="1">
                          <a:solidFill>
                            <a:srgbClr val="AA5CF7"/>
                          </a:solidFill>
                          <a:latin typeface="Calibri"/>
                        </a:defRPr>
                      </a:pPr>
                      <a:r>
                        <a:t>Chief Complaint</a:t>
                      </a:r>
                    </a:p>
                  </a:txBody>
                  <a:tcPr anchor="t" marL="64008" marR="64008" marT="27432" marB="27432">
                    <a:solidFill>
                      <a:srgbClr val="161630"/>
                    </a:solidFill>
                  </a:tcPr>
                </a:tc>
                <a:tc>
                  <a:txBody>
                    <a:bodyPr/>
                    <a:lstStyle/>
                    <a:p>
                      <a:pPr>
                        <a:defRPr sz="900" b="0">
                          <a:solidFill>
                            <a:srgbClr val="F0F0FF"/>
                          </a:solidFill>
                          <a:latin typeface="Calibri"/>
                        </a:defRPr>
                      </a:pPr>
                      <a:r>
                        <a:t>Painful, strange-looking rash on right ankle.</a:t>
                      </a:r>
                    </a:p>
                  </a:txBody>
                  <a:tcPr anchor="t" marL="64008" marR="64008" marT="27432" marB="27432">
                    <a:solidFill>
                      <a:srgbClr val="161630"/>
                    </a:solidFill>
                  </a:tcPr>
                </a:tc>
                <a:tc>
                  <a:txBody>
                    <a:bodyPr/>
                    <a:lstStyle/>
                    <a:p>
                      <a:pPr>
                        <a:defRPr sz="900" b="0">
                          <a:solidFill>
                            <a:srgbClr val="F0F0FF"/>
                          </a:solidFill>
                          <a:latin typeface="Calibri"/>
                        </a:defRPr>
                      </a:pPr>
                      <a:r>
                        <a:t>Painful, swollen, red, abnormal-looking lesion/rash on the right ankle.</a:t>
                      </a:r>
                    </a:p>
                  </a:txBody>
                  <a:tcPr anchor="t" marL="64008" marR="64008" marT="27432" marB="27432">
                    <a:solidFill>
                      <a:srgbClr val="161630"/>
                    </a:solidFill>
                  </a:tcPr>
                </a:tc>
              </a:tr>
              <a:tr h="427808">
                <a:tc>
                  <a:txBody>
                    <a:bodyPr/>
                    <a:lstStyle/>
                    <a:p>
                      <a:pPr>
                        <a:defRPr sz="900" b="1">
                          <a:solidFill>
                            <a:srgbClr val="AA5CF7"/>
                          </a:solidFill>
                          <a:latin typeface="Calibri"/>
                        </a:defRPr>
                      </a:pPr>
                      <a:r>
                        <a:t>Symptoms</a:t>
                      </a:r>
                    </a:p>
                  </a:txBody>
                  <a:tcPr anchor="t" marL="64008" marR="64008" marT="27432" marB="27432">
                    <a:solidFill>
                      <a:srgbClr val="1E1E3A"/>
                    </a:solidFill>
                  </a:tcPr>
                </a:tc>
                <a:tc>
                  <a:txBody>
                    <a:bodyPr/>
                    <a:lstStyle/>
                    <a:p>
                      <a:pPr>
                        <a:defRPr sz="900" b="0">
                          <a:solidFill>
                            <a:srgbClr val="F0F0FF"/>
                          </a:solidFill>
                          <a:latin typeface="Calibri"/>
                        </a:defRPr>
                      </a:pPr>
                      <a:r>
                        <a:t>rash on right ankle | pain | swelling | erythema | scabbing | purulent drainage | subjective fever/feeling hot | fatigue | increas...</a:t>
                      </a:r>
                    </a:p>
                  </a:txBody>
                  <a:tcPr anchor="t" marL="64008" marR="64008" marT="27432" marB="27432">
                    <a:solidFill>
                      <a:srgbClr val="1E1E3A"/>
                    </a:solidFill>
                  </a:tcPr>
                </a:tc>
                <a:tc>
                  <a:txBody>
                    <a:bodyPr/>
                    <a:lstStyle/>
                    <a:p>
                      <a:pPr>
                        <a:defRPr sz="900" b="0">
                          <a:solidFill>
                            <a:srgbClr val="F0F0FF"/>
                          </a:solidFill>
                          <a:latin typeface="Calibri"/>
                        </a:defRPr>
                      </a:pPr>
                      <a:r>
                        <a:t>Right ankle lesion looked abnormal for about one week | Right ankle pain started yesterday | Increasing swelling and enlargement o...</a:t>
                      </a:r>
                    </a:p>
                  </a:txBody>
                  <a:tcPr anchor="t" marL="64008" marR="64008" marT="27432" marB="27432">
                    <a:solidFill>
                      <a:srgbClr val="1E1E3A"/>
                    </a:solidFill>
                  </a:tcPr>
                </a:tc>
              </a:tr>
              <a:tr h="427808">
                <a:tc>
                  <a:txBody>
                    <a:bodyPr/>
                    <a:lstStyle/>
                    <a:p>
                      <a:pPr>
                        <a:defRPr sz="900" b="1">
                          <a:solidFill>
                            <a:srgbClr val="AA5CF7"/>
                          </a:solidFill>
                          <a:latin typeface="Calibri"/>
                        </a:defRPr>
                      </a:pPr>
                      <a:r>
                        <a:t>Symptom Onset</a:t>
                      </a:r>
                    </a:p>
                  </a:txBody>
                  <a:tcPr anchor="t" marL="64008" marR="64008" marT="27432" marB="27432">
                    <a:solidFill>
                      <a:srgbClr val="161630"/>
                    </a:solidFill>
                  </a:tcPr>
                </a:tc>
                <a:tc>
                  <a:txBody>
                    <a:bodyPr/>
                    <a:lstStyle/>
                    <a:p>
                      <a:pPr>
                        <a:defRPr sz="900" b="0">
                          <a:solidFill>
                            <a:srgbClr val="F0F0FF"/>
                          </a:solidFill>
                          <a:latin typeface="Calibri"/>
                        </a:defRPr>
                      </a:pPr>
                      <a:r>
                        <a:t>Rash began 1 week ago, worsening/painful since yesterday, purulent drainage started within last 12 hours.</a:t>
                      </a:r>
                    </a:p>
                  </a:txBody>
                  <a:tcPr anchor="t" marL="64008" marR="64008" marT="27432" marB="27432">
                    <a:solidFill>
                      <a:srgbClr val="161630"/>
                    </a:solidFill>
                  </a:tcPr>
                </a:tc>
                <a:tc>
                  <a:txBody>
                    <a:bodyPr/>
                    <a:lstStyle/>
                    <a:p>
                      <a:pPr>
                        <a:defRPr sz="900" b="0">
                          <a:solidFill>
                            <a:srgbClr val="F0F0FF"/>
                          </a:solidFill>
                          <a:latin typeface="Calibri"/>
                        </a:defRPr>
                      </a:pPr>
                      <a:r>
                        <a:t>Right ankle lesion appeared abnormal about one week ago; pain began yesterday. Swelling and white drainage began with the swelling...</a:t>
                      </a:r>
                    </a:p>
                  </a:txBody>
                  <a:tcPr anchor="t" marL="64008" marR="64008" marT="27432" marB="27432">
                    <a:solidFill>
                      <a:srgbClr val="161630"/>
                    </a:solidFill>
                  </a:tcPr>
                </a:tc>
              </a:tr>
              <a:tr h="427808">
                <a:tc>
                  <a:txBody>
                    <a:bodyPr/>
                    <a:lstStyle/>
                    <a:p>
                      <a:pPr>
                        <a:defRPr sz="900" b="1">
                          <a:solidFill>
                            <a:srgbClr val="AA5CF7"/>
                          </a:solidFill>
                          <a:latin typeface="Calibri"/>
                        </a:defRPr>
                      </a:pPr>
                      <a:r>
                        <a:t>Medical History</a:t>
                      </a:r>
                    </a:p>
                  </a:txBody>
                  <a:tcPr anchor="t" marL="64008" marR="64008" marT="27432" marB="27432">
                    <a:solidFill>
                      <a:srgbClr val="1E1E3A"/>
                    </a:solidFill>
                  </a:tcPr>
                </a:tc>
                <a:tc>
                  <a:txBody>
                    <a:bodyPr/>
                    <a:lstStyle/>
                    <a:p>
                      <a:pPr>
                        <a:defRPr sz="900" b="0">
                          <a:solidFill>
                            <a:srgbClr val="F0F0FF"/>
                          </a:solidFill>
                          <a:latin typeface="Calibri"/>
                        </a:defRPr>
                      </a:pPr>
                      <a:r>
                        <a:t>Diabetes mellitus (poorly controlled, A1C ~9) | Hypercholesterolemia | History of asthma | Chronic back pain | History of sinusiti...</a:t>
                      </a:r>
                    </a:p>
                  </a:txBody>
                  <a:tcPr anchor="t" marL="64008" marR="64008" marT="27432" marB="27432">
                    <a:solidFill>
                      <a:srgbClr val="1E1E3A"/>
                    </a:solidFill>
                  </a:tcPr>
                </a:tc>
                <a:tc>
                  <a:txBody>
                    <a:bodyPr/>
                    <a:lstStyle/>
                    <a:p>
                      <a:pPr>
                        <a:defRPr sz="900" b="0">
                          <a:solidFill>
                            <a:srgbClr val="F0F0FF"/>
                          </a:solidFill>
                          <a:latin typeface="Calibri"/>
                        </a:defRPr>
                      </a:pPr>
                      <a:r>
                        <a:t>Type 2 diabetes mellitus, poorly controlled; stopped checking blood glucose and reports last HbA1c was approximately 9% | Hypercho...</a:t>
                      </a:r>
                    </a:p>
                  </a:txBody>
                  <a:tcPr anchor="t" marL="64008" marR="64008" marT="27432" marB="27432">
                    <a:solidFill>
                      <a:srgbClr val="1E1E3A"/>
                    </a:solidFill>
                  </a:tcPr>
                </a:tc>
              </a:tr>
              <a:tr h="427808">
                <a:tc>
                  <a:txBody>
                    <a:bodyPr/>
                    <a:lstStyle/>
                    <a:p>
                      <a:pPr>
                        <a:defRPr sz="900" b="1">
                          <a:solidFill>
                            <a:srgbClr val="AA5CF7"/>
                          </a:solidFill>
                          <a:latin typeface="Calibri"/>
                        </a:defRPr>
                      </a:pPr>
                      <a:r>
                        <a:t>Curr. Medications</a:t>
                      </a:r>
                    </a:p>
                  </a:txBody>
                  <a:tcPr anchor="t" marL="64008" marR="64008" marT="27432" marB="27432">
                    <a:solidFill>
                      <a:srgbClr val="161630"/>
                    </a:solidFill>
                  </a:tcPr>
                </a:tc>
                <a:tc>
                  <a:txBody>
                    <a:bodyPr/>
                    <a:lstStyle/>
                    <a:p>
                      <a:pPr>
                        <a:defRPr sz="900" b="0">
                          <a:solidFill>
                            <a:srgbClr val="F0F0FF"/>
                          </a:solidFill>
                          <a:latin typeface="Calibri"/>
                        </a:defRPr>
                      </a:pPr>
                      <a:r>
                        <a:t>Rosuvastatin | Metformin | Two other unspecified diabetes medications</a:t>
                      </a:r>
                    </a:p>
                  </a:txBody>
                  <a:tcPr anchor="t" marL="64008" marR="64008" marT="27432" marB="27432">
                    <a:solidFill>
                      <a:srgbClr val="161630"/>
                    </a:solidFill>
                  </a:tcPr>
                </a:tc>
                <a:tc>
                  <a:txBody>
                    <a:bodyPr/>
                    <a:lstStyle/>
                    <a:p>
                      <a:pPr>
                        <a:defRPr sz="900" b="0">
                          <a:solidFill>
                            <a:srgbClr val="F0F0FF"/>
                          </a:solidFill>
                          <a:latin typeface="Calibri"/>
                        </a:defRPr>
                      </a:pPr>
                      <a:r>
                        <a:t>Rosuvastatin | Metformin | Two additional diabetes medications, names unknown; patient plans to provide medication list | Acetamin...</a:t>
                      </a:r>
                    </a:p>
                  </a:txBody>
                  <a:tcPr anchor="t" marL="64008" marR="64008" marT="27432" marB="27432">
                    <a:solidFill>
                      <a:srgbClr val="161630"/>
                    </a:solidFill>
                  </a:tcPr>
                </a:tc>
              </a:tr>
              <a:tr h="427808">
                <a:tc>
                  <a:txBody>
                    <a:bodyPr/>
                    <a:lstStyle/>
                    <a:p>
                      <a:pPr>
                        <a:defRPr sz="900" b="1">
                          <a:solidFill>
                            <a:srgbClr val="AA5CF7"/>
                          </a:solidFill>
                          <a:latin typeface="Calibri"/>
                        </a:defRPr>
                      </a:pPr>
                      <a:r>
                        <a:t>Allergies</a:t>
                      </a:r>
                    </a:p>
                  </a:txBody>
                  <a:tcPr anchor="t" marL="64008" marR="64008" marT="27432" marB="27432">
                    <a:solidFill>
                      <a:srgbClr val="1E1E3A"/>
                    </a:solidFill>
                  </a:tcPr>
                </a:tc>
                <a:tc>
                  <a:txBody>
                    <a:bodyPr/>
                    <a:lstStyle/>
                    <a:p>
                      <a:pPr>
                        <a:defRPr sz="900" b="0">
                          <a:solidFill>
                            <a:srgbClr val="F0F0FF"/>
                          </a:solidFill>
                          <a:latin typeface="Calibri"/>
                        </a:defRPr>
                      </a:pPr>
                      <a:r>
                        <a:t>Penicillin (reaction: facial bloating, respiratory distress)</a:t>
                      </a:r>
                    </a:p>
                  </a:txBody>
                  <a:tcPr anchor="t" marL="64008" marR="64008" marT="27432" marB="27432">
                    <a:solidFill>
                      <a:srgbClr val="1E1E3A"/>
                    </a:solidFill>
                  </a:tcPr>
                </a:tc>
                <a:tc>
                  <a:txBody>
                    <a:bodyPr/>
                    <a:lstStyle/>
                    <a:p>
                      <a:pPr>
                        <a:defRPr sz="900" b="0">
                          <a:solidFill>
                            <a:srgbClr val="F0F0FF"/>
                          </a:solidFill>
                          <a:latin typeface="Calibri"/>
                        </a:defRPr>
                      </a:pPr>
                      <a:r>
                        <a:t>Penicillin: childhood reaction with facial swelling and difficulty breathing</a:t>
                      </a:r>
                    </a:p>
                  </a:txBody>
                  <a:tcPr anchor="t" marL="64008" marR="64008" marT="27432" marB="27432">
                    <a:solidFill>
                      <a:srgbClr val="1E1E3A"/>
                    </a:solidFill>
                  </a:tcPr>
                </a:tc>
              </a:tr>
              <a:tr h="427808">
                <a:tc>
                  <a:txBody>
                    <a:bodyPr/>
                    <a:lstStyle/>
                    <a:p>
                      <a:pPr>
                        <a:defRPr sz="900" b="1">
                          <a:solidFill>
                            <a:srgbClr val="AA5CF7"/>
                          </a:solidFill>
                          <a:latin typeface="Calibri"/>
                        </a:defRPr>
                      </a:pPr>
                      <a:r>
                        <a:t>Exam Findings</a:t>
                      </a:r>
                    </a:p>
                  </a:txBody>
                  <a:tcPr anchor="t" marL="64008" marR="64008" marT="27432" marB="27432">
                    <a:solidFill>
                      <a:srgbClr val="161630"/>
                    </a:solidFill>
                  </a:tcPr>
                </a:tc>
                <a:tc>
                  <a:txBody>
                    <a:bodyPr/>
                    <a:lstStyle/>
                    <a:p>
                      <a:pPr>
                        <a:defRPr sz="900" b="0">
                          <a:solidFill>
                            <a:srgbClr val="F0F0FF"/>
                          </a:solidFill>
                          <a:latin typeface="Calibri"/>
                        </a:defRPr>
                      </a:pPr>
                      <a:r>
                        <a:t>Right ankle appears swollen and erythematous | Open wound/leaking of purulent material present | Right leg feels warmer to the tou...</a:t>
                      </a:r>
                    </a:p>
                  </a:txBody>
                  <a:tcPr anchor="t" marL="64008" marR="64008" marT="27432" marB="27432">
                    <a:solidFill>
                      <a:srgbClr val="161630"/>
                    </a:solidFill>
                  </a:tcPr>
                </a:tc>
                <a:tc>
                  <a:txBody>
                    <a:bodyPr/>
                    <a:lstStyle/>
                    <a:p>
                      <a:pPr>
                        <a:defRPr sz="900" b="0">
                          <a:solidFill>
                            <a:srgbClr val="F0F0FF"/>
                          </a:solidFill>
                          <a:latin typeface="Calibri"/>
                        </a:defRPr>
                      </a:pPr>
                      <a:r>
                        <a:t>Patient reports visible swelling of the right ankle lesion, with enlargement compared with prior appearance | Patient reports redn...</a:t>
                      </a:r>
                    </a:p>
                  </a:txBody>
                  <a:tcPr anchor="t" marL="64008" marR="64008" marT="27432" marB="27432">
                    <a:solidFill>
                      <a:srgbClr val="161630"/>
                    </a:solidFill>
                  </a:tcPr>
                </a:tc>
              </a:tr>
              <a:tr h="427808">
                <a:tc>
                  <a:txBody>
                    <a:bodyPr/>
                    <a:lstStyle/>
                    <a:p>
                      <a:pPr>
                        <a:defRPr sz="900" b="1">
                          <a:solidFill>
                            <a:srgbClr val="AA5CF7"/>
                          </a:solidFill>
                          <a:latin typeface="Calibri"/>
                        </a:defRPr>
                      </a:pPr>
                      <a:r>
                        <a:t>Diagnosis</a:t>
                      </a:r>
                    </a:p>
                  </a:txBody>
                  <a:tcPr anchor="t" marL="64008" marR="64008" marT="27432" marB="27432">
                    <a:solidFill>
                      <a:srgbClr val="1E1E3A"/>
                    </a:solidFill>
                  </a:tcPr>
                </a:tc>
                <a:tc>
                  <a:txBody>
                    <a:bodyPr/>
                    <a:lstStyle/>
                    <a:p>
                      <a:pPr>
                        <a:defRPr sz="900" b="0">
                          <a:solidFill>
                            <a:srgbClr val="F0F0FF"/>
                          </a:solidFill>
                          <a:latin typeface="Calibri"/>
                        </a:defRPr>
                      </a:pPr>
                      <a:r>
                        <a:t>—</a:t>
                      </a:r>
                    </a:p>
                  </a:txBody>
                  <a:tcPr anchor="t" marL="64008" marR="64008" marT="27432" marB="27432">
                    <a:solidFill>
                      <a:srgbClr val="1E1E3A"/>
                    </a:solidFill>
                  </a:tcPr>
                </a:tc>
                <a:tc>
                  <a:txBody>
                    <a:bodyPr/>
                    <a:lstStyle/>
                    <a:p>
                      <a:pPr>
                        <a:defRPr sz="900" b="0">
                          <a:solidFill>
                            <a:srgbClr val="F0F0FF"/>
                          </a:solidFill>
                          <a:latin typeface="Calibri"/>
                        </a:defRPr>
                      </a:pPr>
                      <a:r>
                        <a:t>Suspected right ankle cellulitis/infected skin wound in the setting of poorly controlled diabetes | Poorly controlled type 2 diabe...</a:t>
                      </a:r>
                    </a:p>
                  </a:txBody>
                  <a:tcPr anchor="t" marL="64008" marR="64008" marT="27432" marB="27432">
                    <a:solidFill>
                      <a:srgbClr val="1E1E3A"/>
                    </a:solidFill>
                  </a:tcPr>
                </a:tc>
              </a:tr>
              <a:tr h="427808">
                <a:tc>
                  <a:txBody>
                    <a:bodyPr/>
                    <a:lstStyle/>
                    <a:p>
                      <a:pPr>
                        <a:defRPr sz="900" b="1">
                          <a:solidFill>
                            <a:srgbClr val="AA5CF7"/>
                          </a:solidFill>
                          <a:latin typeface="Calibri"/>
                        </a:defRPr>
                      </a:pPr>
                      <a:r>
                        <a:t>Diff. Diagnosis</a:t>
                      </a:r>
                    </a:p>
                  </a:txBody>
                  <a:tcPr anchor="t" marL="64008" marR="64008" marT="27432" marB="27432">
                    <a:solidFill>
                      <a:srgbClr val="161630"/>
                    </a:solidFill>
                  </a:tcPr>
                </a:tc>
                <a:tc>
                  <a:txBody>
                    <a:bodyPr/>
                    <a:lstStyle/>
                    <a:p>
                      <a:pPr>
                        <a:defRPr sz="900" b="0">
                          <a:solidFill>
                            <a:srgbClr val="F0F0FF"/>
                          </a:solidFill>
                          <a:latin typeface="Calibri"/>
                        </a:defRPr>
                      </a:pPr>
                      <a:r>
                        <a:t>Infected diabetic ulcer | Cellulitis</a:t>
                      </a:r>
                    </a:p>
                  </a:txBody>
                  <a:tcPr anchor="t" marL="64008" marR="64008" marT="27432" marB="27432">
                    <a:solidFill>
                      <a:srgbClr val="161630"/>
                    </a:solidFill>
                  </a:tcPr>
                </a:tc>
                <a:tc>
                  <a:txBody>
                    <a:bodyPr/>
                    <a:lstStyle/>
                    <a:p>
                      <a:pPr>
                        <a:defRPr sz="900" b="0">
                          <a:solidFill>
                            <a:srgbClr val="F0F0FF"/>
                          </a:solidFill>
                          <a:latin typeface="Calibri"/>
                        </a:defRPr>
                      </a:pPr>
                      <a:r>
                        <a:t>—</a:t>
                      </a:r>
                    </a:p>
                  </a:txBody>
                  <a:tcPr anchor="t" marL="64008" marR="64008" marT="27432" marB="27432">
                    <a:solidFill>
                      <a:srgbClr val="161630"/>
                    </a:solidFill>
                  </a:tcPr>
                </a:tc>
              </a:tr>
              <a:tr h="427808">
                <a:tc>
                  <a:txBody>
                    <a:bodyPr/>
                    <a:lstStyle/>
                    <a:p>
                      <a:pPr>
                        <a:defRPr sz="900" b="1">
                          <a:solidFill>
                            <a:srgbClr val="AA5CF7"/>
                          </a:solidFill>
                          <a:latin typeface="Calibri"/>
                        </a:defRPr>
                      </a:pPr>
                      <a:r>
                        <a:t>Prescribed Meds</a:t>
                      </a:r>
                    </a:p>
                  </a:txBody>
                  <a:tcPr anchor="t" marL="64008" marR="64008" marT="27432" marB="27432">
                    <a:solidFill>
                      <a:srgbClr val="1E1E3A"/>
                    </a:solidFill>
                  </a:tcPr>
                </a:tc>
                <a:tc>
                  <a:txBody>
                    <a:bodyPr/>
                    <a:lstStyle/>
                    <a:p>
                      <a:pPr>
                        <a:defRPr sz="900" b="0">
                          <a:solidFill>
                            <a:srgbClr val="F0F0FF"/>
                          </a:solidFill>
                          <a:latin typeface="Calibri"/>
                        </a:defRPr>
                      </a:pPr>
                      <a:r>
                        <a:t>—</a:t>
                      </a:r>
                    </a:p>
                  </a:txBody>
                  <a:tcPr anchor="t" marL="64008" marR="64008" marT="27432" marB="27432">
                    <a:solidFill>
                      <a:srgbClr val="1E1E3A"/>
                    </a:solidFill>
                  </a:tcPr>
                </a:tc>
                <a:tc>
                  <a:txBody>
                    <a:bodyPr/>
                    <a:lstStyle/>
                    <a:p>
                      <a:pPr>
                        <a:defRPr sz="900" b="0">
                          <a:solidFill>
                            <a:srgbClr val="F0F0FF"/>
                          </a:solidFill>
                          <a:latin typeface="Calibri"/>
                        </a:defRPr>
                      </a:pPr>
                      <a:r>
                        <a:t>—</a:t>
                      </a:r>
                    </a:p>
                  </a:txBody>
                  <a:tcPr anchor="t" marL="64008" marR="64008" marT="27432" marB="27432">
                    <a:solidFill>
                      <a:srgbClr val="1E1E3A"/>
                    </a:solidFill>
                  </a:tcPr>
                </a:tc>
              </a:tr>
              <a:tr h="427808">
                <a:tc>
                  <a:txBody>
                    <a:bodyPr/>
                    <a:lstStyle/>
                    <a:p>
                      <a:pPr>
                        <a:defRPr sz="900" b="1">
                          <a:solidFill>
                            <a:srgbClr val="AA5CF7"/>
                          </a:solidFill>
                          <a:latin typeface="Calibri"/>
                        </a:defRPr>
                      </a:pPr>
                      <a:r>
                        <a:t>Treatment Plan</a:t>
                      </a:r>
                    </a:p>
                  </a:txBody>
                  <a:tcPr anchor="t" marL="64008" marR="64008" marT="27432" marB="27432">
                    <a:solidFill>
                      <a:srgbClr val="161630"/>
                    </a:solidFill>
                  </a:tcPr>
                </a:tc>
                <a:tc>
                  <a:txBody>
                    <a:bodyPr/>
                    <a:lstStyle/>
                    <a:p>
                      <a:pPr>
                        <a:defRPr sz="900" b="0">
                          <a:solidFill>
                            <a:srgbClr val="F0F0FF"/>
                          </a:solidFill>
                          <a:latin typeface="Calibri"/>
                        </a:defRPr>
                      </a:pPr>
                      <a:r>
                        <a:t>Physical examination of the leg | Consultation with supervising physician</a:t>
                      </a:r>
                    </a:p>
                  </a:txBody>
                  <a:tcPr anchor="t" marL="64008" marR="64008" marT="27432" marB="27432">
                    <a:solidFill>
                      <a:srgbClr val="161630"/>
                    </a:solidFill>
                  </a:tcPr>
                </a:tc>
                <a:tc>
                  <a:txBody>
                    <a:bodyPr/>
                    <a:lstStyle/>
                    <a:p>
                      <a:pPr>
                        <a:defRPr sz="900" b="0">
                          <a:solidFill>
                            <a:srgbClr val="F0F0FF"/>
                          </a:solidFill>
                          <a:latin typeface="Calibri"/>
                        </a:defRPr>
                      </a:pPr>
                      <a:r>
                        <a:t>Perform closer physical examination of the right leg/ankle lesion | Clinician to discuss the case with the supervising doctor afte...</a:t>
                      </a:r>
                    </a:p>
                  </a:txBody>
                  <a:tcPr anchor="t" marL="64008" marR="64008" marT="27432" marB="27432">
                    <a:solidFill>
                      <a:srgbClr val="161630"/>
                    </a:solidFill>
                  </a:tcPr>
                </a:tc>
              </a:tr>
              <a:tr h="427808">
                <a:tc>
                  <a:txBody>
                    <a:bodyPr/>
                    <a:lstStyle/>
                    <a:p>
                      <a:pPr>
                        <a:defRPr sz="900" b="1">
                          <a:solidFill>
                            <a:srgbClr val="AA5CF7"/>
                          </a:solidFill>
                          <a:latin typeface="Calibri"/>
                        </a:defRPr>
                      </a:pPr>
                      <a:r>
                        <a:t>Investigations</a:t>
                      </a:r>
                    </a:p>
                  </a:txBody>
                  <a:tcPr anchor="t" marL="64008" marR="64008" marT="27432" marB="27432">
                    <a:solidFill>
                      <a:srgbClr val="1E1E3A"/>
                    </a:solidFill>
                  </a:tcPr>
                </a:tc>
                <a:tc>
                  <a:txBody>
                    <a:bodyPr/>
                    <a:lstStyle/>
                    <a:p>
                      <a:pPr>
                        <a:defRPr sz="900" b="0">
                          <a:solidFill>
                            <a:srgbClr val="F0F0FF"/>
                          </a:solidFill>
                          <a:latin typeface="Calibri"/>
                        </a:defRPr>
                      </a:pPr>
                      <a:r>
                        <a:t>—</a:t>
                      </a:r>
                    </a:p>
                  </a:txBody>
                  <a:tcPr anchor="t" marL="64008" marR="64008" marT="27432" marB="27432">
                    <a:solidFill>
                      <a:srgbClr val="1E1E3A"/>
                    </a:solidFill>
                  </a:tcPr>
                </a:tc>
                <a:tc>
                  <a:txBody>
                    <a:bodyPr/>
                    <a:lstStyle/>
                    <a:p>
                      <a:pPr>
                        <a:defRPr sz="900" b="0">
                          <a:solidFill>
                            <a:srgbClr val="F0F0FF"/>
                          </a:solidFill>
                          <a:latin typeface="Calibri"/>
                        </a:defRPr>
                      </a:pPr>
                      <a:r>
                        <a:t>—</a:t>
                      </a:r>
                    </a:p>
                  </a:txBody>
                  <a:tcPr anchor="t" marL="64008" marR="64008" marT="27432" marB="27432">
                    <a:solidFill>
                      <a:srgbClr val="1E1E3A"/>
                    </a:solidFill>
                  </a:tcPr>
                </a:tc>
              </a:tr>
              <a:tr h="427816">
                <a:tc>
                  <a:txBody>
                    <a:bodyPr/>
                    <a:lstStyle/>
                    <a:p>
                      <a:pPr>
                        <a:defRPr sz="900" b="1">
                          <a:solidFill>
                            <a:srgbClr val="AA5CF7"/>
                          </a:solidFill>
                          <a:latin typeface="Calibri"/>
                        </a:defRPr>
                      </a:pPr>
                      <a:r>
                        <a:t>Follow Up</a:t>
                      </a:r>
                    </a:p>
                  </a:txBody>
                  <a:tcPr anchor="t" marL="64008" marR="64008" marT="27432" marB="27432">
                    <a:solidFill>
                      <a:srgbClr val="161630"/>
                    </a:solidFill>
                  </a:tcPr>
                </a:tc>
                <a:tc>
                  <a:txBody>
                    <a:bodyPr/>
                    <a:lstStyle/>
                    <a:p>
                      <a:pPr>
                        <a:defRPr sz="900" b="0">
                          <a:solidFill>
                            <a:srgbClr val="F0F0FF"/>
                          </a:solidFill>
                          <a:latin typeface="Calibri"/>
                        </a:defRPr>
                      </a:pPr>
                      <a:r>
                        <a:t>Patient to undergo physical examination of the leg immediately.</a:t>
                      </a:r>
                    </a:p>
                  </a:txBody>
                  <a:tcPr anchor="t" marL="64008" marR="64008" marT="27432" marB="27432">
                    <a:solidFill>
                      <a:srgbClr val="161630"/>
                    </a:solidFill>
                  </a:tcPr>
                </a:tc>
                <a:tc>
                  <a:txBody>
                    <a:bodyPr/>
                    <a:lstStyle/>
                    <a:p>
                      <a:pPr>
                        <a:defRPr sz="900" b="0">
                          <a:solidFill>
                            <a:srgbClr val="F0F0FF"/>
                          </a:solidFill>
                          <a:latin typeface="Calibri"/>
                        </a:defRPr>
                      </a:pPr>
                      <a:r>
                        <a:t>Immediate next step was physical examination of the leg followed by discussion with the supervising doctor to determine further ma...</a:t>
                      </a:r>
                    </a:p>
                  </a:txBody>
                  <a:tcPr anchor="t" marL="64008" marR="64008" marT="27432" marB="27432">
                    <a:solidFill>
                      <a:srgbClr val="161630"/>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